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372"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1283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txBody>
          <a:bodyPr/>
          <a:lstStyle/>
          <a:p>
            <a:endParaRPr lang="vi-VN"/>
          </a:p>
        </p:txBody>
      </p:sp>
      <p:sp>
        <p:nvSpPr>
          <p:cNvPr id="3" name="Shape 1"/>
          <p:cNvSpPr/>
          <p:nvPr/>
        </p:nvSpPr>
        <p:spPr>
          <a:xfrm>
            <a:off x="0" y="0"/>
            <a:ext cx="14630400" cy="8229600"/>
          </a:xfrm>
          <a:prstGeom prst="rect">
            <a:avLst/>
          </a:prstGeom>
          <a:solidFill>
            <a:srgbClr val="FAFFFA"/>
          </a:solidFill>
          <a:ln/>
        </p:spPr>
        <p:txBody>
          <a:bodyPr/>
          <a:lstStyle/>
          <a:p>
            <a:endParaRPr lang="vi-V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1.sv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897017"/>
            <a:ext cx="7556421" cy="1417558"/>
          </a:xfrm>
          <a:prstGeom prst="rect">
            <a:avLst/>
          </a:prstGeom>
          <a:noFill/>
          <a:ln/>
        </p:spPr>
        <p:txBody>
          <a:bodyPr wrap="square" lIns="0" tIns="0" rIns="0" bIns="0" rtlCol="0" anchor="t"/>
          <a:lstStyle/>
          <a:p>
            <a:pPr marL="0" indent="0" algn="l">
              <a:lnSpc>
                <a:spcPts val="5550"/>
              </a:lnSpc>
              <a:buNone/>
            </a:pPr>
            <a:r>
              <a:rPr lang="en-US" sz="6000" b="1" dirty="0">
                <a:solidFill>
                  <a:srgbClr val="3B4540"/>
                </a:solidFill>
                <a:latin typeface="Times New Roman" panose="02020603050405020304" pitchFamily="18" charset="0"/>
                <a:ea typeface="Fraunces Extra Bold" pitchFamily="34" charset="-122"/>
                <a:cs typeface="Times New Roman" panose="02020603050405020304" pitchFamily="18" charset="0"/>
              </a:rPr>
              <a:t>Đồ án Kiểm thử phần mềm</a:t>
            </a:r>
            <a:endParaRPr lang="en-US" sz="6000" dirty="0">
              <a:latin typeface="Times New Roman" panose="02020603050405020304" pitchFamily="18" charset="0"/>
              <a:cs typeface="Times New Roman" panose="02020603050405020304" pitchFamily="18" charset="0"/>
            </a:endParaRPr>
          </a:p>
        </p:txBody>
      </p:sp>
      <p:sp>
        <p:nvSpPr>
          <p:cNvPr id="4" name="Text 1"/>
          <p:cNvSpPr/>
          <p:nvPr/>
        </p:nvSpPr>
        <p:spPr>
          <a:xfrm>
            <a:off x="6280190" y="2405301"/>
            <a:ext cx="7556421" cy="1133951"/>
          </a:xfrm>
          <a:prstGeom prst="rect">
            <a:avLst/>
          </a:prstGeom>
          <a:noFill/>
          <a:ln/>
        </p:spPr>
        <p:txBody>
          <a:bodyPr wrap="square" lIns="0" tIns="0" rIns="0" bIns="0" rtlCol="0" anchor="t"/>
          <a:lstStyle/>
          <a:p>
            <a:pPr marL="0" indent="0" algn="l">
              <a:lnSpc>
                <a:spcPts val="4450"/>
              </a:lnSpc>
              <a:buNone/>
            </a:pPr>
            <a:r>
              <a:rPr lang="en-US" sz="4800" b="1" dirty="0">
                <a:solidFill>
                  <a:srgbClr val="3B4540"/>
                </a:solidFill>
                <a:latin typeface="Times New Roman" panose="02020603050405020304" pitchFamily="18" charset="0"/>
                <a:ea typeface="Fraunces Extra Bold" pitchFamily="34" charset="-122"/>
                <a:cs typeface="Times New Roman" panose="02020603050405020304" pitchFamily="18" charset="0"/>
              </a:rPr>
              <a:t>Kiểm thử hệ thống website bán hàng thức ăn nhanh</a:t>
            </a:r>
            <a:endParaRPr lang="en-US" sz="4800" dirty="0">
              <a:latin typeface="Times New Roman" panose="02020603050405020304" pitchFamily="18" charset="0"/>
              <a:cs typeface="Times New Roman" panose="02020603050405020304" pitchFamily="18" charset="0"/>
            </a:endParaRPr>
          </a:p>
        </p:txBody>
      </p:sp>
      <p:sp>
        <p:nvSpPr>
          <p:cNvPr id="5" name="Text 2"/>
          <p:cNvSpPr/>
          <p:nvPr/>
        </p:nvSpPr>
        <p:spPr>
          <a:xfrm>
            <a:off x="6280190" y="3879413"/>
            <a:ext cx="7556421" cy="362903"/>
          </a:xfrm>
          <a:prstGeom prst="rect">
            <a:avLst/>
          </a:prstGeom>
          <a:noFill/>
          <a:ln/>
        </p:spPr>
        <p:txBody>
          <a:bodyPr wrap="none" lIns="0" tIns="0" rIns="0" bIns="0" rtlCol="0" anchor="t"/>
          <a:lstStyle/>
          <a:p>
            <a:pPr marL="0" indent="0" algn="l">
              <a:lnSpc>
                <a:spcPts val="2850"/>
              </a:lnSpc>
              <a:buNone/>
            </a:pPr>
            <a:r>
              <a:rPr lang="en-US" sz="2800" b="1" dirty="0">
                <a:solidFill>
                  <a:srgbClr val="405449"/>
                </a:solidFill>
                <a:latin typeface="Times New Roman" panose="02020603050405020304" pitchFamily="18" charset="0"/>
                <a:ea typeface="Nobile" pitchFamily="34" charset="-122"/>
                <a:cs typeface="Times New Roman" panose="02020603050405020304" pitchFamily="18" charset="0"/>
              </a:rPr>
              <a:t>Giảng viên hướng dẫn:</a:t>
            </a:r>
            <a:r>
              <a:rPr lang="en-US" sz="2800" dirty="0">
                <a:solidFill>
                  <a:srgbClr val="405449"/>
                </a:solidFill>
                <a:latin typeface="Times New Roman" panose="02020603050405020304" pitchFamily="18" charset="0"/>
                <a:ea typeface="Nobile" pitchFamily="34" charset="-122"/>
                <a:cs typeface="Times New Roman" panose="02020603050405020304" pitchFamily="18" charset="0"/>
              </a:rPr>
              <a:t> TS. Đỗ Như Tài</a:t>
            </a:r>
            <a:endParaRPr lang="en-US" sz="2800" dirty="0">
              <a:latin typeface="Times New Roman" panose="02020603050405020304" pitchFamily="18" charset="0"/>
              <a:cs typeface="Times New Roman" panose="02020603050405020304" pitchFamily="18" charset="0"/>
            </a:endParaRPr>
          </a:p>
        </p:txBody>
      </p:sp>
      <p:sp>
        <p:nvSpPr>
          <p:cNvPr id="6" name="Text 3"/>
          <p:cNvSpPr/>
          <p:nvPr/>
        </p:nvSpPr>
        <p:spPr>
          <a:xfrm>
            <a:off x="6280190" y="4497467"/>
            <a:ext cx="7556421" cy="362903"/>
          </a:xfrm>
          <a:prstGeom prst="rect">
            <a:avLst/>
          </a:prstGeom>
          <a:noFill/>
          <a:ln/>
        </p:spPr>
        <p:txBody>
          <a:bodyPr wrap="none" lIns="0" tIns="0" rIns="0" bIns="0" rtlCol="0" anchor="t"/>
          <a:lstStyle/>
          <a:p>
            <a:pPr marL="0" indent="0" algn="l">
              <a:lnSpc>
                <a:spcPts val="2850"/>
              </a:lnSpc>
              <a:buNone/>
            </a:pPr>
            <a:r>
              <a:rPr lang="en-US" sz="2800" b="1" dirty="0">
                <a:solidFill>
                  <a:srgbClr val="405449"/>
                </a:solidFill>
                <a:latin typeface="Times New Roman" panose="02020603050405020304" pitchFamily="18" charset="0"/>
                <a:ea typeface="Nobile" pitchFamily="34" charset="-122"/>
                <a:cs typeface="Times New Roman" panose="02020603050405020304" pitchFamily="18" charset="0"/>
              </a:rPr>
              <a:t>Sinh viên thực hiện:</a:t>
            </a:r>
            <a:r>
              <a:rPr lang="en-US" sz="2800" dirty="0">
                <a:solidFill>
                  <a:srgbClr val="405449"/>
                </a:solidFill>
                <a:latin typeface="Times New Roman" panose="02020603050405020304" pitchFamily="18" charset="0"/>
                <a:ea typeface="Nobile" pitchFamily="34" charset="-122"/>
                <a:cs typeface="Times New Roman" panose="02020603050405020304" pitchFamily="18" charset="0"/>
              </a:rPr>
              <a:t> </a:t>
            </a:r>
            <a:endParaRPr lang="en-US" sz="2800" dirty="0">
              <a:latin typeface="Times New Roman" panose="02020603050405020304" pitchFamily="18" charset="0"/>
              <a:cs typeface="Times New Roman" panose="02020603050405020304" pitchFamily="18" charset="0"/>
            </a:endParaRPr>
          </a:p>
        </p:txBody>
      </p:sp>
      <p:sp>
        <p:nvSpPr>
          <p:cNvPr id="7" name="Text 4"/>
          <p:cNvSpPr/>
          <p:nvPr/>
        </p:nvSpPr>
        <p:spPr>
          <a:xfrm>
            <a:off x="6280190" y="5115520"/>
            <a:ext cx="7556421" cy="362903"/>
          </a:xfrm>
          <a:prstGeom prst="rect">
            <a:avLst/>
          </a:prstGeom>
          <a:noFill/>
          <a:ln/>
        </p:spPr>
        <p:txBody>
          <a:bodyPr wrap="none" lIns="0" tIns="0" rIns="0" bIns="0" rtlCol="0" anchor="t"/>
          <a:lstStyle/>
          <a:p>
            <a:pPr marL="0" indent="0" algn="l">
              <a:lnSpc>
                <a:spcPts val="2850"/>
              </a:lnSpc>
              <a:buNone/>
            </a:pPr>
            <a:r>
              <a:rPr lang="en-US" sz="2800" dirty="0">
                <a:solidFill>
                  <a:srgbClr val="405449"/>
                </a:solidFill>
                <a:latin typeface="Times New Roman" panose="02020603050405020304" pitchFamily="18" charset="0"/>
                <a:ea typeface="Nobile" pitchFamily="34" charset="-122"/>
                <a:cs typeface="Times New Roman" panose="02020603050405020304" pitchFamily="18" charset="0"/>
              </a:rPr>
              <a:t>Bùi Thị Hoài Thương - 3122411203</a:t>
            </a:r>
            <a:endParaRPr lang="en-US" sz="2800" dirty="0">
              <a:latin typeface="Times New Roman" panose="02020603050405020304" pitchFamily="18" charset="0"/>
              <a:cs typeface="Times New Roman" panose="02020603050405020304" pitchFamily="18" charset="0"/>
            </a:endParaRPr>
          </a:p>
        </p:txBody>
      </p:sp>
      <p:sp>
        <p:nvSpPr>
          <p:cNvPr id="8" name="Text 5"/>
          <p:cNvSpPr/>
          <p:nvPr/>
        </p:nvSpPr>
        <p:spPr>
          <a:xfrm>
            <a:off x="6280190" y="5733574"/>
            <a:ext cx="7556421" cy="362903"/>
          </a:xfrm>
          <a:prstGeom prst="rect">
            <a:avLst/>
          </a:prstGeom>
          <a:noFill/>
          <a:ln/>
        </p:spPr>
        <p:txBody>
          <a:bodyPr wrap="none" lIns="0" tIns="0" rIns="0" bIns="0" rtlCol="0" anchor="t"/>
          <a:lstStyle/>
          <a:p>
            <a:pPr marL="0" indent="0" algn="l">
              <a:lnSpc>
                <a:spcPts val="2850"/>
              </a:lnSpc>
              <a:buNone/>
            </a:pPr>
            <a:r>
              <a:rPr lang="en-US" sz="2800" dirty="0">
                <a:solidFill>
                  <a:srgbClr val="405449"/>
                </a:solidFill>
                <a:latin typeface="Times New Roman" panose="02020603050405020304" pitchFamily="18" charset="0"/>
                <a:ea typeface="Nobile" pitchFamily="34" charset="-122"/>
                <a:cs typeface="Times New Roman" panose="02020603050405020304" pitchFamily="18" charset="0"/>
              </a:rPr>
              <a:t>Trần Văn Minh Tiến - 3122411209</a:t>
            </a:r>
            <a:endParaRPr lang="en-US" sz="2800" dirty="0">
              <a:latin typeface="Times New Roman" panose="02020603050405020304" pitchFamily="18" charset="0"/>
              <a:cs typeface="Times New Roman" panose="02020603050405020304" pitchFamily="18" charset="0"/>
            </a:endParaRPr>
          </a:p>
        </p:txBody>
      </p:sp>
      <p:sp>
        <p:nvSpPr>
          <p:cNvPr id="9" name="Text 6"/>
          <p:cNvSpPr/>
          <p:nvPr/>
        </p:nvSpPr>
        <p:spPr>
          <a:xfrm>
            <a:off x="6280190" y="6351627"/>
            <a:ext cx="7556421" cy="362903"/>
          </a:xfrm>
          <a:prstGeom prst="rect">
            <a:avLst/>
          </a:prstGeom>
          <a:noFill/>
          <a:ln/>
        </p:spPr>
        <p:txBody>
          <a:bodyPr wrap="none" lIns="0" tIns="0" rIns="0" bIns="0" rtlCol="0" anchor="t"/>
          <a:lstStyle/>
          <a:p>
            <a:pPr marL="0" indent="0" algn="l">
              <a:lnSpc>
                <a:spcPts val="2850"/>
              </a:lnSpc>
              <a:buNone/>
            </a:pPr>
            <a:r>
              <a:rPr lang="en-US" sz="2800" dirty="0">
                <a:solidFill>
                  <a:srgbClr val="405449"/>
                </a:solidFill>
                <a:latin typeface="Times New Roman" panose="02020603050405020304" pitchFamily="18" charset="0"/>
                <a:ea typeface="Nobile" pitchFamily="34" charset="-122"/>
                <a:cs typeface="Times New Roman" panose="02020603050405020304" pitchFamily="18" charset="0"/>
              </a:rPr>
              <a:t>Trương Lê Gia Hưng - 3122411076</a:t>
            </a:r>
            <a:endParaRPr lang="en-US" sz="2800" dirty="0">
              <a:latin typeface="Times New Roman" panose="02020603050405020304" pitchFamily="18" charset="0"/>
              <a:cs typeface="Times New Roman" panose="02020603050405020304" pitchFamily="18" charset="0"/>
            </a:endParaRPr>
          </a:p>
        </p:txBody>
      </p:sp>
      <p:sp>
        <p:nvSpPr>
          <p:cNvPr id="10" name="Text 7"/>
          <p:cNvSpPr/>
          <p:nvPr/>
        </p:nvSpPr>
        <p:spPr>
          <a:xfrm>
            <a:off x="6280190" y="6969681"/>
            <a:ext cx="7556421" cy="362903"/>
          </a:xfrm>
          <a:prstGeom prst="rect">
            <a:avLst/>
          </a:prstGeom>
          <a:noFill/>
          <a:ln/>
        </p:spPr>
        <p:txBody>
          <a:bodyPr wrap="none" lIns="0" tIns="0" rIns="0" bIns="0" rtlCol="0" anchor="t"/>
          <a:lstStyle/>
          <a:p>
            <a:pPr marL="0" indent="0" algn="l">
              <a:lnSpc>
                <a:spcPts val="2850"/>
              </a:lnSpc>
              <a:buNone/>
            </a:pPr>
            <a:r>
              <a:rPr lang="en-US" sz="2800" dirty="0">
                <a:solidFill>
                  <a:srgbClr val="405449"/>
                </a:solidFill>
                <a:latin typeface="Times New Roman" panose="02020603050405020304" pitchFamily="18" charset="0"/>
                <a:ea typeface="Nobile" pitchFamily="34" charset="-122"/>
                <a:cs typeface="Times New Roman" panose="02020603050405020304" pitchFamily="18" charset="0"/>
              </a:rPr>
              <a:t>Nguyễn Gia Huy - 3122411066</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220986"/>
            <a:ext cx="6177201" cy="708779"/>
          </a:xfrm>
          <a:prstGeom prst="rect">
            <a:avLst/>
          </a:prstGeom>
          <a:noFill/>
          <a:ln/>
        </p:spPr>
        <p:txBody>
          <a:bodyPr wrap="none" lIns="0" tIns="0" rIns="0" bIns="0" rtlCol="0" anchor="t"/>
          <a:lstStyle/>
          <a:p>
            <a:pPr marL="0" indent="0" algn="l">
              <a:lnSpc>
                <a:spcPts val="5550"/>
              </a:lnSpc>
              <a:buNone/>
            </a:pPr>
            <a:r>
              <a:rPr lang="en-US" sz="6000" b="1" dirty="0">
                <a:solidFill>
                  <a:srgbClr val="3B4540"/>
                </a:solidFill>
                <a:latin typeface="Times New Roman" panose="02020603050405020304" pitchFamily="18" charset="0"/>
                <a:ea typeface="Fraunces Extra Bold" pitchFamily="34" charset="-122"/>
                <a:cs typeface="Times New Roman" panose="02020603050405020304" pitchFamily="18" charset="0"/>
              </a:rPr>
              <a:t>Nội dung thuyết trình</a:t>
            </a:r>
            <a:endParaRPr lang="en-US" sz="6000" dirty="0">
              <a:latin typeface="Times New Roman" panose="02020603050405020304" pitchFamily="18" charset="0"/>
              <a:cs typeface="Times New Roman" panose="02020603050405020304" pitchFamily="18" charset="0"/>
            </a:endParaRPr>
          </a:p>
        </p:txBody>
      </p:sp>
      <p:sp>
        <p:nvSpPr>
          <p:cNvPr id="3" name="Text 1"/>
          <p:cNvSpPr/>
          <p:nvPr/>
        </p:nvSpPr>
        <p:spPr>
          <a:xfrm>
            <a:off x="793790" y="2383393"/>
            <a:ext cx="226814" cy="283488"/>
          </a:xfrm>
          <a:prstGeom prst="rect">
            <a:avLst/>
          </a:prstGeom>
          <a:noFill/>
          <a:ln/>
        </p:spPr>
        <p:txBody>
          <a:bodyPr wrap="none" lIns="0" tIns="0" rIns="0" bIns="0" rtlCol="0" anchor="t"/>
          <a:lstStyle/>
          <a:p>
            <a:pPr marL="0" indent="0" algn="l">
              <a:lnSpc>
                <a:spcPts val="2850"/>
              </a:lnSpc>
              <a:buNone/>
            </a:pPr>
            <a:r>
              <a:rPr lang="en-US" sz="2400" dirty="0">
                <a:solidFill>
                  <a:srgbClr val="405449"/>
                </a:solidFill>
                <a:latin typeface="Times New Roman" panose="02020603050405020304" pitchFamily="18" charset="0"/>
                <a:ea typeface="Fraunces Light" pitchFamily="34" charset="-122"/>
                <a:cs typeface="Times New Roman" panose="02020603050405020304" pitchFamily="18" charset="0"/>
              </a:rPr>
              <a:t>01</a:t>
            </a:r>
            <a:endParaRPr lang="en-US" sz="2400" dirty="0">
              <a:latin typeface="Times New Roman" panose="02020603050405020304" pitchFamily="18" charset="0"/>
              <a:cs typeface="Times New Roman" panose="02020603050405020304" pitchFamily="18" charset="0"/>
            </a:endParaRPr>
          </a:p>
        </p:txBody>
      </p:sp>
      <p:sp>
        <p:nvSpPr>
          <p:cNvPr id="4" name="Shape 2"/>
          <p:cNvSpPr/>
          <p:nvPr/>
        </p:nvSpPr>
        <p:spPr>
          <a:xfrm>
            <a:off x="793790" y="2738437"/>
            <a:ext cx="4196358" cy="30480"/>
          </a:xfrm>
          <a:prstGeom prst="rect">
            <a:avLst/>
          </a:prstGeom>
          <a:solidFill>
            <a:srgbClr val="438951"/>
          </a:solidFill>
          <a:ln/>
        </p:spPr>
        <p:txBody>
          <a:bodyPr/>
          <a:lstStyle/>
          <a:p>
            <a:endParaRPr lang="vi-VN" sz="2800">
              <a:latin typeface="Times New Roman" panose="02020603050405020304" pitchFamily="18" charset="0"/>
              <a:cs typeface="Times New Roman" panose="02020603050405020304" pitchFamily="18" charset="0"/>
            </a:endParaRPr>
          </a:p>
        </p:txBody>
      </p:sp>
      <p:sp>
        <p:nvSpPr>
          <p:cNvPr id="5" name="Text 3"/>
          <p:cNvSpPr/>
          <p:nvPr/>
        </p:nvSpPr>
        <p:spPr>
          <a:xfrm>
            <a:off x="793790" y="2912745"/>
            <a:ext cx="3402330" cy="425291"/>
          </a:xfrm>
          <a:prstGeom prst="rect">
            <a:avLst/>
          </a:prstGeom>
          <a:noFill/>
          <a:ln/>
        </p:spPr>
        <p:txBody>
          <a:bodyPr wrap="none" lIns="0" tIns="0" rIns="0" bIns="0" rtlCol="0" anchor="t"/>
          <a:lstStyle/>
          <a:p>
            <a:pPr marL="0" indent="0" algn="l">
              <a:lnSpc>
                <a:spcPts val="3300"/>
              </a:lnSpc>
              <a:buNone/>
            </a:pPr>
            <a:r>
              <a:rPr lang="en-US" sz="3600" b="1" dirty="0">
                <a:solidFill>
                  <a:srgbClr val="405449"/>
                </a:solidFill>
                <a:latin typeface="Times New Roman" panose="02020603050405020304" pitchFamily="18" charset="0"/>
                <a:ea typeface="Fraunces Extra Bold" pitchFamily="34" charset="-122"/>
                <a:cs typeface="Times New Roman" panose="02020603050405020304" pitchFamily="18" charset="0"/>
              </a:rPr>
              <a:t>Tổng quan đề tài</a:t>
            </a:r>
            <a:endParaRPr lang="en-US" sz="3600" dirty="0">
              <a:latin typeface="Times New Roman" panose="02020603050405020304" pitchFamily="18" charset="0"/>
              <a:cs typeface="Times New Roman" panose="02020603050405020304" pitchFamily="18" charset="0"/>
            </a:endParaRPr>
          </a:p>
        </p:txBody>
      </p:sp>
      <p:sp>
        <p:nvSpPr>
          <p:cNvPr id="6" name="Text 4"/>
          <p:cNvSpPr/>
          <p:nvPr/>
        </p:nvSpPr>
        <p:spPr>
          <a:xfrm>
            <a:off x="793790" y="3474125"/>
            <a:ext cx="4196358" cy="725805"/>
          </a:xfrm>
          <a:prstGeom prst="rect">
            <a:avLst/>
          </a:prstGeom>
          <a:noFill/>
          <a:ln/>
        </p:spPr>
        <p:txBody>
          <a:bodyPr wrap="square" lIns="0" tIns="0" rIns="0" bIns="0" rtlCol="0" anchor="t"/>
          <a:lstStyle/>
          <a:p>
            <a:pPr marL="0" indent="0" algn="l">
              <a:lnSpc>
                <a:spcPts val="2850"/>
              </a:lnSpc>
              <a:buNone/>
            </a:pP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Cung cấp cái nhìn tổng thể về dự án và mục tiêu kiểm thử.</a:t>
            </a:r>
            <a:endParaRPr lang="en-US" sz="2400" dirty="0">
              <a:latin typeface="Times New Roman" panose="02020603050405020304" pitchFamily="18" charset="0"/>
              <a:cs typeface="Times New Roman" panose="02020603050405020304" pitchFamily="18" charset="0"/>
            </a:endParaRPr>
          </a:p>
        </p:txBody>
      </p:sp>
      <p:sp>
        <p:nvSpPr>
          <p:cNvPr id="7" name="Text 5"/>
          <p:cNvSpPr/>
          <p:nvPr/>
        </p:nvSpPr>
        <p:spPr>
          <a:xfrm>
            <a:off x="5216962" y="2383393"/>
            <a:ext cx="226814" cy="283488"/>
          </a:xfrm>
          <a:prstGeom prst="rect">
            <a:avLst/>
          </a:prstGeom>
          <a:noFill/>
          <a:ln/>
        </p:spPr>
        <p:txBody>
          <a:bodyPr wrap="none" lIns="0" tIns="0" rIns="0" bIns="0" rtlCol="0" anchor="t"/>
          <a:lstStyle/>
          <a:p>
            <a:pPr marL="0" indent="0" algn="l">
              <a:lnSpc>
                <a:spcPts val="2850"/>
              </a:lnSpc>
              <a:buNone/>
            </a:pPr>
            <a:r>
              <a:rPr lang="en-US" sz="2400" dirty="0">
                <a:solidFill>
                  <a:srgbClr val="405449"/>
                </a:solidFill>
                <a:latin typeface="Times New Roman" panose="02020603050405020304" pitchFamily="18" charset="0"/>
                <a:ea typeface="Fraunces Light" pitchFamily="34" charset="-122"/>
                <a:cs typeface="Times New Roman" panose="02020603050405020304" pitchFamily="18" charset="0"/>
              </a:rPr>
              <a:t>02</a:t>
            </a:r>
            <a:endParaRPr lang="en-US" sz="2400" dirty="0">
              <a:latin typeface="Times New Roman" panose="02020603050405020304" pitchFamily="18" charset="0"/>
              <a:cs typeface="Times New Roman" panose="02020603050405020304" pitchFamily="18" charset="0"/>
            </a:endParaRPr>
          </a:p>
        </p:txBody>
      </p:sp>
      <p:sp>
        <p:nvSpPr>
          <p:cNvPr id="8" name="Shape 6"/>
          <p:cNvSpPr/>
          <p:nvPr/>
        </p:nvSpPr>
        <p:spPr>
          <a:xfrm>
            <a:off x="5216962" y="2738437"/>
            <a:ext cx="4196358" cy="30480"/>
          </a:xfrm>
          <a:prstGeom prst="rect">
            <a:avLst/>
          </a:prstGeom>
          <a:solidFill>
            <a:srgbClr val="438951"/>
          </a:solidFill>
          <a:ln/>
        </p:spPr>
        <p:txBody>
          <a:bodyPr/>
          <a:lstStyle/>
          <a:p>
            <a:endParaRPr lang="vi-VN" sz="2800">
              <a:latin typeface="Times New Roman" panose="02020603050405020304" pitchFamily="18" charset="0"/>
              <a:cs typeface="Times New Roman" panose="02020603050405020304" pitchFamily="18" charset="0"/>
            </a:endParaRPr>
          </a:p>
        </p:txBody>
      </p:sp>
      <p:sp>
        <p:nvSpPr>
          <p:cNvPr id="9" name="Text 7"/>
          <p:cNvSpPr/>
          <p:nvPr/>
        </p:nvSpPr>
        <p:spPr>
          <a:xfrm>
            <a:off x="5216962" y="2912745"/>
            <a:ext cx="4196358" cy="850583"/>
          </a:xfrm>
          <a:prstGeom prst="rect">
            <a:avLst/>
          </a:prstGeom>
          <a:noFill/>
          <a:ln/>
        </p:spPr>
        <p:txBody>
          <a:bodyPr wrap="square" lIns="0" tIns="0" rIns="0" bIns="0" rtlCol="0" anchor="t"/>
          <a:lstStyle/>
          <a:p>
            <a:pPr marL="0" indent="0" algn="l">
              <a:lnSpc>
                <a:spcPts val="3300"/>
              </a:lnSpc>
              <a:buNone/>
            </a:pPr>
            <a:r>
              <a:rPr lang="en-US" sz="3600" b="1" dirty="0">
                <a:solidFill>
                  <a:srgbClr val="405449"/>
                </a:solidFill>
                <a:latin typeface="Times New Roman" panose="02020603050405020304" pitchFamily="18" charset="0"/>
                <a:ea typeface="Fraunces Extra Bold" pitchFamily="34" charset="-122"/>
                <a:cs typeface="Times New Roman" panose="02020603050405020304" pitchFamily="18" charset="0"/>
              </a:rPr>
              <a:t>Phân tích &amp; Kiến trúc hệ thống</a:t>
            </a:r>
            <a:endParaRPr lang="en-US" sz="3600" dirty="0">
              <a:latin typeface="Times New Roman" panose="02020603050405020304" pitchFamily="18" charset="0"/>
              <a:cs typeface="Times New Roman" panose="02020603050405020304" pitchFamily="18" charset="0"/>
            </a:endParaRPr>
          </a:p>
        </p:txBody>
      </p:sp>
      <p:sp>
        <p:nvSpPr>
          <p:cNvPr id="10" name="Text 8"/>
          <p:cNvSpPr/>
          <p:nvPr/>
        </p:nvSpPr>
        <p:spPr>
          <a:xfrm>
            <a:off x="5216962" y="3899416"/>
            <a:ext cx="4196358" cy="725805"/>
          </a:xfrm>
          <a:prstGeom prst="rect">
            <a:avLst/>
          </a:prstGeom>
          <a:noFill/>
          <a:ln/>
        </p:spPr>
        <p:txBody>
          <a:bodyPr wrap="square" lIns="0" tIns="0" rIns="0" bIns="0" rtlCol="0" anchor="t"/>
          <a:lstStyle/>
          <a:p>
            <a:pPr marL="0" indent="0" algn="l">
              <a:lnSpc>
                <a:spcPts val="2850"/>
              </a:lnSpc>
              <a:buNone/>
            </a:pP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Đi sâu vào cấu trúc và các quy trình nghiệp vụ chính của hệ thống.</a:t>
            </a:r>
            <a:endParaRPr lang="en-US" sz="2400" dirty="0">
              <a:latin typeface="Times New Roman" panose="02020603050405020304" pitchFamily="18" charset="0"/>
              <a:cs typeface="Times New Roman" panose="02020603050405020304" pitchFamily="18" charset="0"/>
            </a:endParaRPr>
          </a:p>
        </p:txBody>
      </p:sp>
      <p:sp>
        <p:nvSpPr>
          <p:cNvPr id="11" name="Text 9"/>
          <p:cNvSpPr/>
          <p:nvPr/>
        </p:nvSpPr>
        <p:spPr>
          <a:xfrm>
            <a:off x="9640133" y="2383393"/>
            <a:ext cx="226814" cy="283488"/>
          </a:xfrm>
          <a:prstGeom prst="rect">
            <a:avLst/>
          </a:prstGeom>
          <a:noFill/>
          <a:ln/>
        </p:spPr>
        <p:txBody>
          <a:bodyPr wrap="none" lIns="0" tIns="0" rIns="0" bIns="0" rtlCol="0" anchor="t"/>
          <a:lstStyle/>
          <a:p>
            <a:pPr marL="0" indent="0" algn="l">
              <a:lnSpc>
                <a:spcPts val="2850"/>
              </a:lnSpc>
              <a:buNone/>
            </a:pPr>
            <a:r>
              <a:rPr lang="en-US" sz="2400" dirty="0">
                <a:solidFill>
                  <a:srgbClr val="405449"/>
                </a:solidFill>
                <a:latin typeface="Times New Roman" panose="02020603050405020304" pitchFamily="18" charset="0"/>
                <a:ea typeface="Fraunces Light" pitchFamily="34" charset="-122"/>
                <a:cs typeface="Times New Roman" panose="02020603050405020304" pitchFamily="18" charset="0"/>
              </a:rPr>
              <a:t>03</a:t>
            </a:r>
            <a:endParaRPr lang="en-US" sz="2400" dirty="0">
              <a:latin typeface="Times New Roman" panose="02020603050405020304" pitchFamily="18" charset="0"/>
              <a:cs typeface="Times New Roman" panose="02020603050405020304" pitchFamily="18" charset="0"/>
            </a:endParaRPr>
          </a:p>
        </p:txBody>
      </p:sp>
      <p:sp>
        <p:nvSpPr>
          <p:cNvPr id="12" name="Shape 10"/>
          <p:cNvSpPr/>
          <p:nvPr/>
        </p:nvSpPr>
        <p:spPr>
          <a:xfrm>
            <a:off x="9640133" y="2738437"/>
            <a:ext cx="4196358" cy="30480"/>
          </a:xfrm>
          <a:prstGeom prst="rect">
            <a:avLst/>
          </a:prstGeom>
          <a:solidFill>
            <a:srgbClr val="438951"/>
          </a:solidFill>
          <a:ln/>
        </p:spPr>
        <p:txBody>
          <a:bodyPr/>
          <a:lstStyle/>
          <a:p>
            <a:endParaRPr lang="vi-VN" sz="2800">
              <a:latin typeface="Times New Roman" panose="02020603050405020304" pitchFamily="18" charset="0"/>
              <a:cs typeface="Times New Roman" panose="02020603050405020304" pitchFamily="18" charset="0"/>
            </a:endParaRPr>
          </a:p>
        </p:txBody>
      </p:sp>
      <p:sp>
        <p:nvSpPr>
          <p:cNvPr id="13" name="Text 11"/>
          <p:cNvSpPr/>
          <p:nvPr/>
        </p:nvSpPr>
        <p:spPr>
          <a:xfrm>
            <a:off x="9640133" y="2912745"/>
            <a:ext cx="4196358" cy="850583"/>
          </a:xfrm>
          <a:prstGeom prst="rect">
            <a:avLst/>
          </a:prstGeom>
          <a:noFill/>
          <a:ln/>
        </p:spPr>
        <p:txBody>
          <a:bodyPr wrap="square" lIns="0" tIns="0" rIns="0" bIns="0" rtlCol="0" anchor="t"/>
          <a:lstStyle/>
          <a:p>
            <a:pPr marL="0" indent="0" algn="l">
              <a:lnSpc>
                <a:spcPts val="3300"/>
              </a:lnSpc>
              <a:buNone/>
            </a:pPr>
            <a:r>
              <a:rPr lang="en-US" sz="3600" b="1" dirty="0">
                <a:solidFill>
                  <a:srgbClr val="405449"/>
                </a:solidFill>
                <a:latin typeface="Times New Roman" panose="02020603050405020304" pitchFamily="18" charset="0"/>
                <a:ea typeface="Fraunces Extra Bold" pitchFamily="34" charset="-122"/>
                <a:cs typeface="Times New Roman" panose="02020603050405020304" pitchFamily="18" charset="0"/>
              </a:rPr>
              <a:t>Kế hoạch &amp; Chiến lược kiểm thử</a:t>
            </a:r>
            <a:endParaRPr lang="en-US" sz="3600" dirty="0">
              <a:latin typeface="Times New Roman" panose="02020603050405020304" pitchFamily="18" charset="0"/>
              <a:cs typeface="Times New Roman" panose="02020603050405020304" pitchFamily="18" charset="0"/>
            </a:endParaRPr>
          </a:p>
        </p:txBody>
      </p:sp>
      <p:sp>
        <p:nvSpPr>
          <p:cNvPr id="14" name="Text 12"/>
          <p:cNvSpPr/>
          <p:nvPr/>
        </p:nvSpPr>
        <p:spPr>
          <a:xfrm>
            <a:off x="9640133" y="3899416"/>
            <a:ext cx="4196358" cy="725805"/>
          </a:xfrm>
          <a:prstGeom prst="rect">
            <a:avLst/>
          </a:prstGeom>
          <a:noFill/>
          <a:ln/>
        </p:spPr>
        <p:txBody>
          <a:bodyPr wrap="square" lIns="0" tIns="0" rIns="0" bIns="0" rtlCol="0" anchor="t"/>
          <a:lstStyle/>
          <a:p>
            <a:pPr marL="0" indent="0" algn="l">
              <a:lnSpc>
                <a:spcPts val="2850"/>
              </a:lnSpc>
              <a:buNone/>
            </a:pP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Trình bày mô hình, phương pháp và công cụ kiểm thử được áp dụng.</a:t>
            </a:r>
            <a:endParaRPr lang="en-US" sz="2400" dirty="0">
              <a:latin typeface="Times New Roman" panose="02020603050405020304" pitchFamily="18" charset="0"/>
              <a:cs typeface="Times New Roman" panose="02020603050405020304" pitchFamily="18" charset="0"/>
            </a:endParaRPr>
          </a:p>
        </p:txBody>
      </p:sp>
      <p:sp>
        <p:nvSpPr>
          <p:cNvPr id="15" name="Text 13"/>
          <p:cNvSpPr/>
          <p:nvPr/>
        </p:nvSpPr>
        <p:spPr>
          <a:xfrm>
            <a:off x="793790" y="5022056"/>
            <a:ext cx="226814" cy="283488"/>
          </a:xfrm>
          <a:prstGeom prst="rect">
            <a:avLst/>
          </a:prstGeom>
          <a:noFill/>
          <a:ln/>
        </p:spPr>
        <p:txBody>
          <a:bodyPr wrap="none" lIns="0" tIns="0" rIns="0" bIns="0" rtlCol="0" anchor="t"/>
          <a:lstStyle/>
          <a:p>
            <a:pPr marL="0" indent="0" algn="l">
              <a:lnSpc>
                <a:spcPts val="2850"/>
              </a:lnSpc>
              <a:buNone/>
            </a:pPr>
            <a:r>
              <a:rPr lang="en-US" sz="2400" dirty="0">
                <a:solidFill>
                  <a:srgbClr val="405449"/>
                </a:solidFill>
                <a:latin typeface="Times New Roman" panose="02020603050405020304" pitchFamily="18" charset="0"/>
                <a:ea typeface="Fraunces Light" pitchFamily="34" charset="-122"/>
                <a:cs typeface="Times New Roman" panose="02020603050405020304" pitchFamily="18" charset="0"/>
              </a:rPr>
              <a:t>04</a:t>
            </a:r>
            <a:endParaRPr lang="en-US" sz="2400" dirty="0">
              <a:latin typeface="Times New Roman" panose="02020603050405020304" pitchFamily="18" charset="0"/>
              <a:cs typeface="Times New Roman" panose="02020603050405020304" pitchFamily="18" charset="0"/>
            </a:endParaRPr>
          </a:p>
        </p:txBody>
      </p:sp>
      <p:sp>
        <p:nvSpPr>
          <p:cNvPr id="16" name="Shape 14"/>
          <p:cNvSpPr/>
          <p:nvPr/>
        </p:nvSpPr>
        <p:spPr>
          <a:xfrm>
            <a:off x="793790" y="5377101"/>
            <a:ext cx="6407944" cy="30480"/>
          </a:xfrm>
          <a:prstGeom prst="rect">
            <a:avLst/>
          </a:prstGeom>
          <a:solidFill>
            <a:srgbClr val="438951"/>
          </a:solidFill>
          <a:ln/>
        </p:spPr>
        <p:txBody>
          <a:bodyPr/>
          <a:lstStyle/>
          <a:p>
            <a:endParaRPr lang="vi-VN" sz="2800">
              <a:latin typeface="Times New Roman" panose="02020603050405020304" pitchFamily="18" charset="0"/>
              <a:cs typeface="Times New Roman" panose="02020603050405020304" pitchFamily="18" charset="0"/>
            </a:endParaRPr>
          </a:p>
        </p:txBody>
      </p:sp>
      <p:sp>
        <p:nvSpPr>
          <p:cNvPr id="17" name="Text 15"/>
          <p:cNvSpPr/>
          <p:nvPr/>
        </p:nvSpPr>
        <p:spPr>
          <a:xfrm>
            <a:off x="793790" y="5551408"/>
            <a:ext cx="4874419" cy="425291"/>
          </a:xfrm>
          <a:prstGeom prst="rect">
            <a:avLst/>
          </a:prstGeom>
          <a:noFill/>
          <a:ln/>
        </p:spPr>
        <p:txBody>
          <a:bodyPr wrap="none" lIns="0" tIns="0" rIns="0" bIns="0" rtlCol="0" anchor="t"/>
          <a:lstStyle/>
          <a:p>
            <a:pPr marL="0" indent="0" algn="l">
              <a:lnSpc>
                <a:spcPts val="3300"/>
              </a:lnSpc>
              <a:buNone/>
            </a:pPr>
            <a:r>
              <a:rPr lang="en-US" sz="3600" b="1" dirty="0">
                <a:solidFill>
                  <a:srgbClr val="405449"/>
                </a:solidFill>
                <a:latin typeface="Times New Roman" panose="02020603050405020304" pitchFamily="18" charset="0"/>
                <a:ea typeface="Fraunces Extra Bold" pitchFamily="34" charset="-122"/>
                <a:cs typeface="Times New Roman" panose="02020603050405020304" pitchFamily="18" charset="0"/>
              </a:rPr>
              <a:t>Thiết kế &amp; Thực thi kiểm thử</a:t>
            </a:r>
            <a:endParaRPr lang="en-US" sz="3600" dirty="0">
              <a:latin typeface="Times New Roman" panose="02020603050405020304" pitchFamily="18" charset="0"/>
              <a:cs typeface="Times New Roman" panose="02020603050405020304" pitchFamily="18" charset="0"/>
            </a:endParaRPr>
          </a:p>
        </p:txBody>
      </p:sp>
      <p:sp>
        <p:nvSpPr>
          <p:cNvPr id="18" name="Text 16"/>
          <p:cNvSpPr/>
          <p:nvPr/>
        </p:nvSpPr>
        <p:spPr>
          <a:xfrm>
            <a:off x="793790" y="6112788"/>
            <a:ext cx="6407944" cy="725805"/>
          </a:xfrm>
          <a:prstGeom prst="rect">
            <a:avLst/>
          </a:prstGeom>
          <a:noFill/>
          <a:ln/>
        </p:spPr>
        <p:txBody>
          <a:bodyPr wrap="square" lIns="0" tIns="0" rIns="0" bIns="0" rtlCol="0" anchor="t"/>
          <a:lstStyle/>
          <a:p>
            <a:pPr marL="0" indent="0" algn="l">
              <a:lnSpc>
                <a:spcPts val="2850"/>
              </a:lnSpc>
              <a:buNone/>
            </a:pP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Minh họa các kỹ thuật thiết kế test case và kịch bản kiểm thử tiêu biểu.</a:t>
            </a:r>
            <a:endParaRPr lang="en-US" sz="2400" dirty="0">
              <a:latin typeface="Times New Roman" panose="02020603050405020304" pitchFamily="18" charset="0"/>
              <a:cs typeface="Times New Roman" panose="02020603050405020304" pitchFamily="18" charset="0"/>
            </a:endParaRPr>
          </a:p>
        </p:txBody>
      </p:sp>
      <p:sp>
        <p:nvSpPr>
          <p:cNvPr id="19" name="Text 17"/>
          <p:cNvSpPr/>
          <p:nvPr/>
        </p:nvSpPr>
        <p:spPr>
          <a:xfrm>
            <a:off x="7428548" y="5022056"/>
            <a:ext cx="226814" cy="283488"/>
          </a:xfrm>
          <a:prstGeom prst="rect">
            <a:avLst/>
          </a:prstGeom>
          <a:noFill/>
          <a:ln/>
        </p:spPr>
        <p:txBody>
          <a:bodyPr wrap="none" lIns="0" tIns="0" rIns="0" bIns="0" rtlCol="0" anchor="t"/>
          <a:lstStyle/>
          <a:p>
            <a:pPr marL="0" indent="0" algn="l">
              <a:lnSpc>
                <a:spcPts val="2850"/>
              </a:lnSpc>
              <a:buNone/>
            </a:pPr>
            <a:r>
              <a:rPr lang="en-US" sz="2400" dirty="0">
                <a:solidFill>
                  <a:srgbClr val="405449"/>
                </a:solidFill>
                <a:latin typeface="Times New Roman" panose="02020603050405020304" pitchFamily="18" charset="0"/>
                <a:ea typeface="Fraunces Light" pitchFamily="34" charset="-122"/>
                <a:cs typeface="Times New Roman" panose="02020603050405020304" pitchFamily="18" charset="0"/>
              </a:rPr>
              <a:t>05</a:t>
            </a:r>
            <a:endParaRPr lang="en-US" sz="2400" dirty="0">
              <a:latin typeface="Times New Roman" panose="02020603050405020304" pitchFamily="18" charset="0"/>
              <a:cs typeface="Times New Roman" panose="02020603050405020304" pitchFamily="18" charset="0"/>
            </a:endParaRPr>
          </a:p>
        </p:txBody>
      </p:sp>
      <p:sp>
        <p:nvSpPr>
          <p:cNvPr id="20" name="Shape 18"/>
          <p:cNvSpPr/>
          <p:nvPr/>
        </p:nvSpPr>
        <p:spPr>
          <a:xfrm>
            <a:off x="7428548" y="5377101"/>
            <a:ext cx="6407944" cy="30480"/>
          </a:xfrm>
          <a:prstGeom prst="rect">
            <a:avLst/>
          </a:prstGeom>
          <a:solidFill>
            <a:srgbClr val="438951"/>
          </a:solidFill>
          <a:ln/>
        </p:spPr>
        <p:txBody>
          <a:bodyPr/>
          <a:lstStyle/>
          <a:p>
            <a:endParaRPr lang="vi-VN" sz="2800">
              <a:latin typeface="Times New Roman" panose="02020603050405020304" pitchFamily="18" charset="0"/>
              <a:cs typeface="Times New Roman" panose="02020603050405020304" pitchFamily="18" charset="0"/>
            </a:endParaRPr>
          </a:p>
        </p:txBody>
      </p:sp>
      <p:sp>
        <p:nvSpPr>
          <p:cNvPr id="21" name="Text 19"/>
          <p:cNvSpPr/>
          <p:nvPr/>
        </p:nvSpPr>
        <p:spPr>
          <a:xfrm>
            <a:off x="7428548" y="5551408"/>
            <a:ext cx="3402330" cy="425291"/>
          </a:xfrm>
          <a:prstGeom prst="rect">
            <a:avLst/>
          </a:prstGeom>
          <a:noFill/>
          <a:ln/>
        </p:spPr>
        <p:txBody>
          <a:bodyPr wrap="none" lIns="0" tIns="0" rIns="0" bIns="0" rtlCol="0" anchor="t"/>
          <a:lstStyle/>
          <a:p>
            <a:pPr marL="0" indent="0" algn="l">
              <a:lnSpc>
                <a:spcPts val="3300"/>
              </a:lnSpc>
              <a:buNone/>
            </a:pPr>
            <a:r>
              <a:rPr lang="en-US" sz="3600" b="1" dirty="0">
                <a:solidFill>
                  <a:srgbClr val="405449"/>
                </a:solidFill>
                <a:latin typeface="Times New Roman" panose="02020603050405020304" pitchFamily="18" charset="0"/>
                <a:ea typeface="Fraunces Extra Bold" pitchFamily="34" charset="-122"/>
                <a:cs typeface="Times New Roman" panose="02020603050405020304" pitchFamily="18" charset="0"/>
              </a:rPr>
              <a:t>Kết quả &amp; Tổng kết</a:t>
            </a:r>
            <a:endParaRPr lang="en-US" sz="3600" dirty="0">
              <a:latin typeface="Times New Roman" panose="02020603050405020304" pitchFamily="18" charset="0"/>
              <a:cs typeface="Times New Roman" panose="02020603050405020304" pitchFamily="18" charset="0"/>
            </a:endParaRPr>
          </a:p>
        </p:txBody>
      </p:sp>
      <p:sp>
        <p:nvSpPr>
          <p:cNvPr id="22" name="Text 20"/>
          <p:cNvSpPr/>
          <p:nvPr/>
        </p:nvSpPr>
        <p:spPr>
          <a:xfrm>
            <a:off x="7428548" y="6112788"/>
            <a:ext cx="6407944" cy="725805"/>
          </a:xfrm>
          <a:prstGeom prst="rect">
            <a:avLst/>
          </a:prstGeom>
          <a:noFill/>
          <a:ln/>
        </p:spPr>
        <p:txBody>
          <a:bodyPr wrap="square" lIns="0" tIns="0" rIns="0" bIns="0" rtlCol="0" anchor="t"/>
          <a:lstStyle/>
          <a:p>
            <a:pPr marL="0" indent="0" algn="l">
              <a:lnSpc>
                <a:spcPts val="2850"/>
              </a:lnSpc>
              <a:buNone/>
            </a:pP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Đánh giá hiệu quả kiểm thử và định hướng phát triển trong tương lai.</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42079" y="347305"/>
            <a:ext cx="3157895" cy="394692"/>
          </a:xfrm>
          <a:prstGeom prst="rect">
            <a:avLst/>
          </a:prstGeom>
          <a:noFill/>
          <a:ln/>
        </p:spPr>
        <p:txBody>
          <a:bodyPr wrap="none" lIns="0" tIns="0" rIns="0" bIns="0" rtlCol="0" anchor="t"/>
          <a:lstStyle/>
          <a:p>
            <a:pPr marL="0" indent="0" algn="l">
              <a:lnSpc>
                <a:spcPts val="3100"/>
              </a:lnSpc>
              <a:buNone/>
            </a:pPr>
            <a:r>
              <a:rPr lang="en-US" sz="4400" b="1" dirty="0">
                <a:solidFill>
                  <a:srgbClr val="3B4540"/>
                </a:solidFill>
                <a:latin typeface="Times New Roman" panose="02020603050405020304" pitchFamily="18" charset="0"/>
                <a:ea typeface="Fraunces Extra Bold" pitchFamily="34" charset="-122"/>
                <a:cs typeface="Times New Roman" panose="02020603050405020304" pitchFamily="18" charset="0"/>
              </a:rPr>
              <a:t>Tổng quan đề tài</a:t>
            </a:r>
            <a:endParaRPr lang="en-US" sz="4400" dirty="0">
              <a:latin typeface="Times New Roman" panose="02020603050405020304" pitchFamily="18" charset="0"/>
              <a:cs typeface="Times New Roman" panose="02020603050405020304" pitchFamily="18" charset="0"/>
            </a:endParaRPr>
          </a:p>
        </p:txBody>
      </p:sp>
      <p:sp>
        <p:nvSpPr>
          <p:cNvPr id="3" name="Text 1"/>
          <p:cNvSpPr/>
          <p:nvPr/>
        </p:nvSpPr>
        <p:spPr>
          <a:xfrm>
            <a:off x="442079" y="1057632"/>
            <a:ext cx="1894642" cy="236696"/>
          </a:xfrm>
          <a:prstGeom prst="rect">
            <a:avLst/>
          </a:prstGeom>
          <a:noFill/>
          <a:ln/>
        </p:spPr>
        <p:txBody>
          <a:bodyPr wrap="none" lIns="0" tIns="0" rIns="0" bIns="0" rtlCol="0" anchor="t"/>
          <a:lstStyle/>
          <a:p>
            <a:pPr marL="0" indent="0" algn="l">
              <a:lnSpc>
                <a:spcPts val="1850"/>
              </a:lnSpc>
              <a:buNone/>
            </a:pPr>
            <a:r>
              <a:rPr lang="en-US" sz="2800" b="1" dirty="0">
                <a:solidFill>
                  <a:srgbClr val="3B4540"/>
                </a:solidFill>
                <a:latin typeface="Times New Roman" panose="02020603050405020304" pitchFamily="18" charset="0"/>
                <a:ea typeface="Fraunces Extra Bold" pitchFamily="34" charset="-122"/>
                <a:cs typeface="Times New Roman" panose="02020603050405020304" pitchFamily="18" charset="0"/>
              </a:rPr>
              <a:t>Tính cấp thiết</a:t>
            </a:r>
            <a:endParaRPr lang="en-US" sz="2800" dirty="0">
              <a:latin typeface="Times New Roman" panose="02020603050405020304" pitchFamily="18" charset="0"/>
              <a:cs typeface="Times New Roman" panose="02020603050405020304" pitchFamily="18" charset="0"/>
            </a:endParaRPr>
          </a:p>
        </p:txBody>
      </p:sp>
      <p:sp>
        <p:nvSpPr>
          <p:cNvPr id="4" name="Text 2"/>
          <p:cNvSpPr/>
          <p:nvPr/>
        </p:nvSpPr>
        <p:spPr>
          <a:xfrm>
            <a:off x="442079" y="1420535"/>
            <a:ext cx="6719054" cy="606147"/>
          </a:xfrm>
          <a:prstGeom prst="rect">
            <a:avLst/>
          </a:prstGeom>
          <a:noFill/>
          <a:ln/>
        </p:spPr>
        <p:txBody>
          <a:bodyPr wrap="square" lIns="0" tIns="0" rIns="0" bIns="0" rtlCol="0" anchor="t"/>
          <a:lstStyle/>
          <a:p>
            <a:pPr marL="0" indent="0" algn="l">
              <a:lnSpc>
                <a:spcPts val="1550"/>
              </a:lnSpc>
              <a:buNone/>
            </a:pPr>
            <a:r>
              <a:rPr lang="en-US" sz="1400" dirty="0">
                <a:solidFill>
                  <a:srgbClr val="405449"/>
                </a:solidFill>
                <a:latin typeface="Times New Roman" panose="02020603050405020304" pitchFamily="18" charset="0"/>
                <a:ea typeface="Nobile" pitchFamily="34" charset="-122"/>
                <a:cs typeface="Times New Roman" panose="02020603050405020304" pitchFamily="18" charset="0"/>
              </a:rPr>
              <a:t>Trong bối cảnh </a:t>
            </a:r>
            <a:r>
              <a:rPr lang="en-US" sz="1400" b="1" dirty="0">
                <a:solidFill>
                  <a:srgbClr val="405449"/>
                </a:solidFill>
                <a:latin typeface="Times New Roman" panose="02020603050405020304" pitchFamily="18" charset="0"/>
                <a:ea typeface="Nobile" pitchFamily="34" charset="-122"/>
                <a:cs typeface="Times New Roman" panose="02020603050405020304" pitchFamily="18" charset="0"/>
              </a:rPr>
              <a:t>kinh tế số</a:t>
            </a:r>
            <a:r>
              <a:rPr lang="en-US" sz="1400" dirty="0">
                <a:solidFill>
                  <a:srgbClr val="405449"/>
                </a:solidFill>
                <a:latin typeface="Times New Roman" panose="02020603050405020304" pitchFamily="18" charset="0"/>
                <a:ea typeface="Nobile" pitchFamily="34" charset="-122"/>
                <a:cs typeface="Times New Roman" panose="02020603050405020304" pitchFamily="18" charset="0"/>
              </a:rPr>
              <a:t> phát triển mạnh mẽ, nhu cầu đặt món trực tuyến ngày càng gia tăng. Điều này đòi hỏi các hệ thống website bán hàng phải </a:t>
            </a:r>
            <a:r>
              <a:rPr lang="en-US" sz="1400" b="1" dirty="0">
                <a:solidFill>
                  <a:srgbClr val="405449"/>
                </a:solidFill>
                <a:latin typeface="Times New Roman" panose="02020603050405020304" pitchFamily="18" charset="0"/>
                <a:ea typeface="Nobile" pitchFamily="34" charset="-122"/>
                <a:cs typeface="Times New Roman" panose="02020603050405020304" pitchFamily="18" charset="0"/>
              </a:rPr>
              <a:t>ổn định, bảo mật và chính xác</a:t>
            </a:r>
            <a:r>
              <a:rPr lang="en-US" sz="1400" dirty="0">
                <a:solidFill>
                  <a:srgbClr val="405449"/>
                </a:solidFill>
                <a:latin typeface="Times New Roman" panose="02020603050405020304" pitchFamily="18" charset="0"/>
                <a:ea typeface="Nobile" pitchFamily="34" charset="-122"/>
                <a:cs typeface="Times New Roman" panose="02020603050405020304" pitchFamily="18" charset="0"/>
              </a:rPr>
              <a:t> để đáp ứng trải nghiệm người dùng và giữ vững uy tín thương hiệu.</a:t>
            </a:r>
            <a:endParaRPr lang="en-US" sz="1400" dirty="0">
              <a:latin typeface="Times New Roman" panose="02020603050405020304" pitchFamily="18" charset="0"/>
              <a:cs typeface="Times New Roman" panose="02020603050405020304" pitchFamily="18" charset="0"/>
            </a:endParaRPr>
          </a:p>
        </p:txBody>
      </p:sp>
      <p:pic>
        <p:nvPicPr>
          <p:cNvPr id="5" name="Image 0" descr="preencoded.png"/>
          <p:cNvPicPr>
            <a:picLocks noChangeAspect="1"/>
          </p:cNvPicPr>
          <p:nvPr/>
        </p:nvPicPr>
        <p:blipFill>
          <a:blip r:embed="rId3"/>
          <a:stretch>
            <a:fillRect/>
          </a:stretch>
        </p:blipFill>
        <p:spPr>
          <a:xfrm>
            <a:off x="442079" y="2168723"/>
            <a:ext cx="6719054" cy="6719054"/>
          </a:xfrm>
          <a:prstGeom prst="rect">
            <a:avLst/>
          </a:prstGeom>
        </p:spPr>
      </p:pic>
      <p:sp>
        <p:nvSpPr>
          <p:cNvPr id="6" name="Text 3"/>
          <p:cNvSpPr/>
          <p:nvPr/>
        </p:nvSpPr>
        <p:spPr>
          <a:xfrm>
            <a:off x="7476887" y="1057632"/>
            <a:ext cx="1894642" cy="236696"/>
          </a:xfrm>
          <a:prstGeom prst="rect">
            <a:avLst/>
          </a:prstGeom>
          <a:noFill/>
          <a:ln/>
        </p:spPr>
        <p:txBody>
          <a:bodyPr wrap="none" lIns="0" tIns="0" rIns="0" bIns="0" rtlCol="0" anchor="t"/>
          <a:lstStyle/>
          <a:p>
            <a:pPr marL="0" indent="0" algn="l">
              <a:lnSpc>
                <a:spcPts val="1850"/>
              </a:lnSpc>
              <a:buNone/>
            </a:pPr>
            <a:r>
              <a:rPr lang="en-US" sz="2800" b="1" dirty="0">
                <a:solidFill>
                  <a:srgbClr val="3B4540"/>
                </a:solidFill>
                <a:latin typeface="Times New Roman" panose="02020603050405020304" pitchFamily="18" charset="0"/>
                <a:ea typeface="Fraunces Extra Bold" pitchFamily="34" charset="-122"/>
                <a:cs typeface="Times New Roman" panose="02020603050405020304" pitchFamily="18" charset="0"/>
              </a:rPr>
              <a:t>Mục tiêu của dự án</a:t>
            </a:r>
            <a:endParaRPr lang="en-US" sz="2800" dirty="0">
              <a:latin typeface="Times New Roman" panose="02020603050405020304" pitchFamily="18" charset="0"/>
              <a:cs typeface="Times New Roman" panose="02020603050405020304" pitchFamily="18" charset="0"/>
            </a:endParaRPr>
          </a:p>
        </p:txBody>
      </p:sp>
      <p:sp>
        <p:nvSpPr>
          <p:cNvPr id="7" name="Text 4"/>
          <p:cNvSpPr/>
          <p:nvPr/>
        </p:nvSpPr>
        <p:spPr>
          <a:xfrm>
            <a:off x="7476887" y="1420535"/>
            <a:ext cx="6719054" cy="404098"/>
          </a:xfrm>
          <a:prstGeom prst="rect">
            <a:avLst/>
          </a:prstGeom>
          <a:noFill/>
          <a:ln/>
        </p:spPr>
        <p:txBody>
          <a:bodyPr wrap="square" lIns="0" tIns="0" rIns="0" bIns="0" rtlCol="0" anchor="t"/>
          <a:lstStyle/>
          <a:p>
            <a:pPr marL="342900" indent="-342900" algn="l">
              <a:lnSpc>
                <a:spcPts val="1550"/>
              </a:lnSpc>
              <a:buSzPct val="100000"/>
              <a:buChar char="•"/>
            </a:pPr>
            <a:r>
              <a:rPr lang="en-US" sz="1400" dirty="0">
                <a:solidFill>
                  <a:srgbClr val="405449"/>
                </a:solidFill>
                <a:latin typeface="Times New Roman" panose="02020603050405020304" pitchFamily="18" charset="0"/>
                <a:ea typeface="Nobile" pitchFamily="34" charset="-122"/>
                <a:cs typeface="Times New Roman" panose="02020603050405020304" pitchFamily="18" charset="0"/>
              </a:rPr>
              <a:t>Đảm bảo chất lượng các chức năng cốt lõi: </a:t>
            </a:r>
            <a:r>
              <a:rPr lang="en-US" sz="1400" b="1" dirty="0">
                <a:solidFill>
                  <a:srgbClr val="405449"/>
                </a:solidFill>
                <a:latin typeface="Times New Roman" panose="02020603050405020304" pitchFamily="18" charset="0"/>
                <a:ea typeface="Nobile" pitchFamily="34" charset="-122"/>
                <a:cs typeface="Times New Roman" panose="02020603050405020304" pitchFamily="18" charset="0"/>
              </a:rPr>
              <a:t>Quản lý thực đơn</a:t>
            </a:r>
            <a:r>
              <a:rPr lang="en-US" sz="1400" dirty="0">
                <a:solidFill>
                  <a:srgbClr val="405449"/>
                </a:solidFill>
                <a:latin typeface="Times New Roman" panose="02020603050405020304" pitchFamily="18" charset="0"/>
                <a:ea typeface="Nobile" pitchFamily="34" charset="-122"/>
                <a:cs typeface="Times New Roman" panose="02020603050405020304" pitchFamily="18" charset="0"/>
              </a:rPr>
              <a:t>, </a:t>
            </a:r>
            <a:r>
              <a:rPr lang="en-US" sz="1400" b="1" dirty="0">
                <a:solidFill>
                  <a:srgbClr val="405449"/>
                </a:solidFill>
                <a:latin typeface="Times New Roman" panose="02020603050405020304" pitchFamily="18" charset="0"/>
                <a:ea typeface="Nobile" pitchFamily="34" charset="-122"/>
                <a:cs typeface="Times New Roman" panose="02020603050405020304" pitchFamily="18" charset="0"/>
              </a:rPr>
              <a:t>Đặt món</a:t>
            </a:r>
            <a:r>
              <a:rPr lang="en-US" sz="1400" dirty="0">
                <a:solidFill>
                  <a:srgbClr val="405449"/>
                </a:solidFill>
                <a:latin typeface="Times New Roman" panose="02020603050405020304" pitchFamily="18" charset="0"/>
                <a:ea typeface="Nobile" pitchFamily="34" charset="-122"/>
                <a:cs typeface="Times New Roman" panose="02020603050405020304" pitchFamily="18" charset="0"/>
              </a:rPr>
              <a:t>, </a:t>
            </a:r>
            <a:r>
              <a:rPr lang="en-US" sz="1400" b="1" dirty="0">
                <a:solidFill>
                  <a:srgbClr val="405449"/>
                </a:solidFill>
                <a:latin typeface="Times New Roman" panose="02020603050405020304" pitchFamily="18" charset="0"/>
                <a:ea typeface="Nobile" pitchFamily="34" charset="-122"/>
                <a:cs typeface="Times New Roman" panose="02020603050405020304" pitchFamily="18" charset="0"/>
              </a:rPr>
              <a:t>Thanh toán trực tuyến</a:t>
            </a:r>
            <a:r>
              <a:rPr lang="en-US" sz="1400" dirty="0">
                <a:solidFill>
                  <a:srgbClr val="405449"/>
                </a:solidFill>
                <a:latin typeface="Times New Roman" panose="02020603050405020304" pitchFamily="18" charset="0"/>
                <a:ea typeface="Nobile" pitchFamily="34" charset="-122"/>
                <a:cs typeface="Times New Roman" panose="02020603050405020304" pitchFamily="18" charset="0"/>
              </a:rPr>
              <a:t> và </a:t>
            </a:r>
            <a:r>
              <a:rPr lang="en-US" sz="1400" b="1" dirty="0">
                <a:solidFill>
                  <a:srgbClr val="405449"/>
                </a:solidFill>
                <a:latin typeface="Times New Roman" panose="02020603050405020304" pitchFamily="18" charset="0"/>
                <a:ea typeface="Nobile" pitchFamily="34" charset="-122"/>
                <a:cs typeface="Times New Roman" panose="02020603050405020304" pitchFamily="18" charset="0"/>
              </a:rPr>
              <a:t>Quản lý vận chuyển</a:t>
            </a:r>
            <a:r>
              <a:rPr lang="en-US" sz="1400" dirty="0">
                <a:solidFill>
                  <a:srgbClr val="405449"/>
                </a:solidFill>
                <a:latin typeface="Times New Roman" panose="02020603050405020304" pitchFamily="18" charset="0"/>
                <a:ea typeface="Nobile"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8" name="Text 5"/>
          <p:cNvSpPr/>
          <p:nvPr/>
        </p:nvSpPr>
        <p:spPr>
          <a:xfrm>
            <a:off x="7476887" y="1868805"/>
            <a:ext cx="6719054" cy="404098"/>
          </a:xfrm>
          <a:prstGeom prst="rect">
            <a:avLst/>
          </a:prstGeom>
          <a:noFill/>
          <a:ln/>
        </p:spPr>
        <p:txBody>
          <a:bodyPr wrap="square" lIns="0" tIns="0" rIns="0" bIns="0" rtlCol="0" anchor="t"/>
          <a:lstStyle/>
          <a:p>
            <a:pPr marL="342900" indent="-342900" algn="l">
              <a:lnSpc>
                <a:spcPts val="1550"/>
              </a:lnSpc>
              <a:buSzPct val="100000"/>
              <a:buChar char="•"/>
            </a:pPr>
            <a:r>
              <a:rPr lang="en-US" sz="1400" dirty="0">
                <a:solidFill>
                  <a:srgbClr val="405449"/>
                </a:solidFill>
                <a:latin typeface="Times New Roman" panose="02020603050405020304" pitchFamily="18" charset="0"/>
                <a:ea typeface="Nobile" pitchFamily="34" charset="-122"/>
                <a:cs typeface="Times New Roman" panose="02020603050405020304" pitchFamily="18" charset="0"/>
              </a:rPr>
              <a:t>Đánh giá và tối ưu hóa </a:t>
            </a:r>
            <a:r>
              <a:rPr lang="en-US" sz="1400" b="1" dirty="0">
                <a:solidFill>
                  <a:srgbClr val="405449"/>
                </a:solidFill>
                <a:latin typeface="Times New Roman" panose="02020603050405020304" pitchFamily="18" charset="0"/>
                <a:ea typeface="Nobile" pitchFamily="34" charset="-122"/>
                <a:cs typeface="Times New Roman" panose="02020603050405020304" pitchFamily="18" charset="0"/>
              </a:rPr>
              <a:t>hiệu suất</a:t>
            </a:r>
            <a:r>
              <a:rPr lang="en-US" sz="1400" dirty="0">
                <a:solidFill>
                  <a:srgbClr val="405449"/>
                </a:solidFill>
                <a:latin typeface="Times New Roman" panose="02020603050405020304" pitchFamily="18" charset="0"/>
                <a:ea typeface="Nobile" pitchFamily="34" charset="-122"/>
                <a:cs typeface="Times New Roman" panose="02020603050405020304" pitchFamily="18" charset="0"/>
              </a:rPr>
              <a:t> của hệ thống, đảm bảo khả năng chịu tải và thời gian phản hồi nhanh chóng.</a:t>
            </a:r>
            <a:endParaRPr lang="en-US" sz="1400" dirty="0">
              <a:latin typeface="Times New Roman" panose="02020603050405020304" pitchFamily="18" charset="0"/>
              <a:cs typeface="Times New Roman" panose="02020603050405020304" pitchFamily="18" charset="0"/>
            </a:endParaRPr>
          </a:p>
        </p:txBody>
      </p:sp>
      <p:sp>
        <p:nvSpPr>
          <p:cNvPr id="9" name="Text 6"/>
          <p:cNvSpPr/>
          <p:nvPr/>
        </p:nvSpPr>
        <p:spPr>
          <a:xfrm>
            <a:off x="7476887" y="2317075"/>
            <a:ext cx="6719054" cy="745439"/>
          </a:xfrm>
          <a:prstGeom prst="rect">
            <a:avLst/>
          </a:prstGeom>
          <a:noFill/>
          <a:ln/>
        </p:spPr>
        <p:txBody>
          <a:bodyPr wrap="none" lIns="0" tIns="0" rIns="0" bIns="0" rtlCol="0" anchor="t"/>
          <a:lstStyle/>
          <a:p>
            <a:pPr marL="342900" indent="-342900" algn="l">
              <a:lnSpc>
                <a:spcPts val="1550"/>
              </a:lnSpc>
              <a:buSzPct val="100000"/>
              <a:buChar char="•"/>
            </a:pPr>
            <a:r>
              <a:rPr lang="en-US" sz="1400" dirty="0">
                <a:solidFill>
                  <a:srgbClr val="405449"/>
                </a:solidFill>
                <a:latin typeface="Times New Roman" panose="02020603050405020304" pitchFamily="18" charset="0"/>
                <a:ea typeface="Nobile" pitchFamily="34" charset="-122"/>
                <a:cs typeface="Times New Roman" panose="02020603050405020304" pitchFamily="18" charset="0"/>
              </a:rPr>
              <a:t>Phát hiện và khắc phục các </a:t>
            </a:r>
            <a:r>
              <a:rPr lang="en-US" sz="1400" b="1" dirty="0">
                <a:solidFill>
                  <a:srgbClr val="405449"/>
                </a:solidFill>
                <a:latin typeface="Times New Roman" panose="02020603050405020304" pitchFamily="18" charset="0"/>
                <a:ea typeface="Nobile" pitchFamily="34" charset="-122"/>
                <a:cs typeface="Times New Roman" panose="02020603050405020304" pitchFamily="18" charset="0"/>
              </a:rPr>
              <a:t>lỗ hổng bảo mật</a:t>
            </a:r>
            <a:r>
              <a:rPr lang="en-US" sz="1400" dirty="0">
                <a:solidFill>
                  <a:srgbClr val="405449"/>
                </a:solidFill>
                <a:latin typeface="Times New Roman" panose="02020603050405020304" pitchFamily="18" charset="0"/>
                <a:ea typeface="Nobile" pitchFamily="34" charset="-122"/>
                <a:cs typeface="Times New Roman" panose="02020603050405020304" pitchFamily="18" charset="0"/>
              </a:rPr>
              <a:t> tiềm ẩn trong quá trình </a:t>
            </a:r>
            <a:r>
              <a:rPr lang="en-US" sz="1400" dirty="0" err="1">
                <a:solidFill>
                  <a:srgbClr val="405449"/>
                </a:solidFill>
                <a:latin typeface="Times New Roman" panose="02020603050405020304" pitchFamily="18" charset="0"/>
                <a:ea typeface="Nobile" pitchFamily="34" charset="-122"/>
                <a:cs typeface="Times New Roman" panose="02020603050405020304" pitchFamily="18" charset="0"/>
              </a:rPr>
              <a:t>giao</a:t>
            </a:r>
            <a:r>
              <a:rPr lang="en-US" sz="1400" dirty="0">
                <a:solidFill>
                  <a:srgbClr val="405449"/>
                </a:solidFill>
                <a:latin typeface="Times New Roman" panose="02020603050405020304" pitchFamily="18" charset="0"/>
                <a:ea typeface="Nobile" pitchFamily="34" charset="-122"/>
                <a:cs typeface="Times New Roman" panose="02020603050405020304" pitchFamily="18" charset="0"/>
              </a:rPr>
              <a:t> </a:t>
            </a:r>
            <a:r>
              <a:rPr lang="en-US" sz="1400" dirty="0" err="1">
                <a:solidFill>
                  <a:srgbClr val="405449"/>
                </a:solidFill>
                <a:latin typeface="Times New Roman" panose="02020603050405020304" pitchFamily="18" charset="0"/>
                <a:ea typeface="Nobile" pitchFamily="34" charset="-122"/>
                <a:cs typeface="Times New Roman" panose="02020603050405020304" pitchFamily="18" charset="0"/>
              </a:rPr>
              <a:t>dịch</a:t>
            </a:r>
            <a:endParaRPr lang="en-US" sz="1400" dirty="0">
              <a:solidFill>
                <a:srgbClr val="405449"/>
              </a:solidFill>
              <a:latin typeface="Times New Roman" panose="02020603050405020304" pitchFamily="18" charset="0"/>
              <a:ea typeface="Nobile" pitchFamily="34" charset="-122"/>
              <a:cs typeface="Times New Roman" panose="02020603050405020304" pitchFamily="18" charset="0"/>
            </a:endParaRPr>
          </a:p>
          <a:p>
            <a:pPr algn="l">
              <a:lnSpc>
                <a:spcPts val="1550"/>
              </a:lnSpc>
              <a:buSzPct val="100000"/>
            </a:pPr>
            <a:r>
              <a:rPr lang="en-US" sz="1400" dirty="0" err="1">
                <a:solidFill>
                  <a:srgbClr val="405449"/>
                </a:solidFill>
                <a:latin typeface="Times New Roman" panose="02020603050405020304" pitchFamily="18" charset="0"/>
                <a:ea typeface="Nobile" pitchFamily="34" charset="-122"/>
                <a:cs typeface="Times New Roman" panose="02020603050405020304" pitchFamily="18" charset="0"/>
              </a:rPr>
              <a:t>và</a:t>
            </a:r>
            <a:r>
              <a:rPr lang="en-US" sz="1400" dirty="0">
                <a:solidFill>
                  <a:srgbClr val="405449"/>
                </a:solidFill>
                <a:latin typeface="Times New Roman" panose="02020603050405020304" pitchFamily="18" charset="0"/>
                <a:ea typeface="Nobile" pitchFamily="34" charset="-122"/>
                <a:cs typeface="Times New Roman" panose="02020603050405020304" pitchFamily="18" charset="0"/>
              </a:rPr>
              <a:t> xử lý dữ liệu người dùng.</a:t>
            </a:r>
            <a:endParaRPr lang="en-US" sz="1400" dirty="0">
              <a:latin typeface="Times New Roman" panose="02020603050405020304" pitchFamily="18" charset="0"/>
              <a:cs typeface="Times New Roman" panose="02020603050405020304" pitchFamily="18" charset="0"/>
            </a:endParaRPr>
          </a:p>
        </p:txBody>
      </p:sp>
      <p:pic>
        <p:nvPicPr>
          <p:cNvPr id="10" name="Image 1" descr="preencoded.png"/>
          <p:cNvPicPr>
            <a:picLocks noChangeAspect="1"/>
          </p:cNvPicPr>
          <p:nvPr/>
        </p:nvPicPr>
        <p:blipFill>
          <a:blip r:embed="rId4"/>
          <a:stretch>
            <a:fillRect/>
          </a:stretch>
        </p:blipFill>
        <p:spPr>
          <a:xfrm>
            <a:off x="7476887" y="3062514"/>
            <a:ext cx="6719054" cy="631770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722001"/>
            <a:ext cx="6040041" cy="708779"/>
          </a:xfrm>
          <a:prstGeom prst="rect">
            <a:avLst/>
          </a:prstGeom>
          <a:noFill/>
          <a:ln/>
        </p:spPr>
        <p:txBody>
          <a:bodyPr wrap="none" lIns="0" tIns="0" rIns="0" bIns="0" rtlCol="0" anchor="t"/>
          <a:lstStyle/>
          <a:p>
            <a:pPr marL="0" indent="0" algn="l">
              <a:lnSpc>
                <a:spcPts val="5550"/>
              </a:lnSpc>
              <a:buNone/>
            </a:pPr>
            <a:r>
              <a:rPr lang="en-US" sz="6000" b="1" dirty="0">
                <a:solidFill>
                  <a:srgbClr val="3B4540"/>
                </a:solidFill>
                <a:latin typeface="Times New Roman" panose="02020603050405020304" pitchFamily="18" charset="0"/>
                <a:ea typeface="Fraunces Extra Bold" pitchFamily="34" charset="-122"/>
                <a:cs typeface="Times New Roman" panose="02020603050405020304" pitchFamily="18" charset="0"/>
              </a:rPr>
              <a:t>Phạm vi &amp; Công nghệ</a:t>
            </a:r>
            <a:endParaRPr lang="en-US" sz="6000" dirty="0">
              <a:latin typeface="Times New Roman" panose="02020603050405020304" pitchFamily="18" charset="0"/>
              <a:cs typeface="Times New Roman" panose="02020603050405020304" pitchFamily="18" charset="0"/>
            </a:endParaRPr>
          </a:p>
        </p:txBody>
      </p:sp>
      <p:sp>
        <p:nvSpPr>
          <p:cNvPr id="3" name="Text 1"/>
          <p:cNvSpPr/>
          <p:nvPr/>
        </p:nvSpPr>
        <p:spPr>
          <a:xfrm>
            <a:off x="793790" y="3111222"/>
            <a:ext cx="3601164" cy="425291"/>
          </a:xfrm>
          <a:prstGeom prst="rect">
            <a:avLst/>
          </a:prstGeom>
          <a:noFill/>
          <a:ln/>
        </p:spPr>
        <p:txBody>
          <a:bodyPr wrap="none" lIns="0" tIns="0" rIns="0" bIns="0" rtlCol="0" anchor="t"/>
          <a:lstStyle/>
          <a:p>
            <a:pPr marL="0" indent="0" algn="l">
              <a:lnSpc>
                <a:spcPts val="3300"/>
              </a:lnSpc>
              <a:buNone/>
            </a:pPr>
            <a:r>
              <a:rPr lang="en-US" sz="3600" b="1" dirty="0">
                <a:solidFill>
                  <a:srgbClr val="405449"/>
                </a:solidFill>
                <a:latin typeface="Times New Roman" panose="02020603050405020304" pitchFamily="18" charset="0"/>
                <a:ea typeface="Fraunces Extra Bold" pitchFamily="34" charset="-122"/>
                <a:cs typeface="Times New Roman" panose="02020603050405020304" pitchFamily="18" charset="0"/>
              </a:rPr>
              <a:t>Công nghệ phát triển</a:t>
            </a:r>
            <a:endParaRPr lang="en-US" sz="3600" dirty="0">
              <a:latin typeface="Times New Roman" panose="02020603050405020304" pitchFamily="18" charset="0"/>
              <a:cs typeface="Times New Roman" panose="02020603050405020304" pitchFamily="18" charset="0"/>
            </a:endParaRPr>
          </a:p>
        </p:txBody>
      </p:sp>
      <p:sp>
        <p:nvSpPr>
          <p:cNvPr id="4" name="Text 2"/>
          <p:cNvSpPr/>
          <p:nvPr/>
        </p:nvSpPr>
        <p:spPr>
          <a:xfrm>
            <a:off x="793790" y="3672602"/>
            <a:ext cx="6379607" cy="1088708"/>
          </a:xfrm>
          <a:prstGeom prst="rect">
            <a:avLst/>
          </a:prstGeom>
          <a:noFill/>
          <a:ln/>
        </p:spPr>
        <p:txBody>
          <a:bodyPr wrap="square" lIns="0" tIns="0" rIns="0" bIns="0" rtlCol="0" anchor="t"/>
          <a:lstStyle/>
          <a:p>
            <a:pPr marL="0" indent="0" algn="l">
              <a:lnSpc>
                <a:spcPts val="2850"/>
              </a:lnSpc>
              <a:buNone/>
            </a:pP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Hệ thống được xây dựng trên nền tảng </a:t>
            </a:r>
            <a:r>
              <a:rPr lang="en-US" sz="2400" b="1" dirty="0">
                <a:solidFill>
                  <a:srgbClr val="405449"/>
                </a:solidFill>
                <a:latin typeface="Times New Roman" panose="02020603050405020304" pitchFamily="18" charset="0"/>
                <a:ea typeface="Nobile" pitchFamily="34" charset="-122"/>
                <a:cs typeface="Times New Roman" panose="02020603050405020304" pitchFamily="18" charset="0"/>
              </a:rPr>
              <a:t>Node.js</a:t>
            </a: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 và </a:t>
            </a:r>
            <a:r>
              <a:rPr lang="en-US" sz="2400" b="1" dirty="0">
                <a:solidFill>
                  <a:srgbClr val="405449"/>
                </a:solidFill>
                <a:latin typeface="Times New Roman" panose="02020603050405020304" pitchFamily="18" charset="0"/>
                <a:ea typeface="Nobile" pitchFamily="34" charset="-122"/>
                <a:cs typeface="Times New Roman" panose="02020603050405020304" pitchFamily="18" charset="0"/>
              </a:rPr>
              <a:t>Express.js</a:t>
            </a: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 cho phần backend, kết hợp với cơ sở dữ liệu </a:t>
            </a:r>
            <a:r>
              <a:rPr lang="en-US" sz="2400" b="1" dirty="0">
                <a:solidFill>
                  <a:srgbClr val="405449"/>
                </a:solidFill>
                <a:latin typeface="Times New Roman" panose="02020603050405020304" pitchFamily="18" charset="0"/>
                <a:ea typeface="Nobile" pitchFamily="34" charset="-122"/>
                <a:cs typeface="Times New Roman" panose="02020603050405020304" pitchFamily="18" charset="0"/>
              </a:rPr>
              <a:t>MySQL</a:t>
            </a: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 để lưu trữ dữ liệu hiệu quả.</a:t>
            </a:r>
            <a:endParaRPr lang="en-US" sz="2400" dirty="0">
              <a:latin typeface="Times New Roman" panose="02020603050405020304" pitchFamily="18" charset="0"/>
              <a:cs typeface="Times New Roman" panose="02020603050405020304" pitchFamily="18" charset="0"/>
            </a:endParaRPr>
          </a:p>
        </p:txBody>
      </p:sp>
      <p:sp>
        <p:nvSpPr>
          <p:cNvPr id="5" name="Text 3"/>
          <p:cNvSpPr/>
          <p:nvPr/>
        </p:nvSpPr>
        <p:spPr>
          <a:xfrm>
            <a:off x="7456884" y="3111222"/>
            <a:ext cx="3402330" cy="425291"/>
          </a:xfrm>
          <a:prstGeom prst="rect">
            <a:avLst/>
          </a:prstGeom>
          <a:noFill/>
          <a:ln/>
        </p:spPr>
        <p:txBody>
          <a:bodyPr wrap="none" lIns="0" tIns="0" rIns="0" bIns="0" rtlCol="0" anchor="t"/>
          <a:lstStyle/>
          <a:p>
            <a:pPr marL="0" indent="0" algn="l">
              <a:lnSpc>
                <a:spcPts val="3300"/>
              </a:lnSpc>
              <a:buNone/>
            </a:pPr>
            <a:r>
              <a:rPr lang="en-US" sz="3600" b="1" dirty="0">
                <a:solidFill>
                  <a:srgbClr val="405449"/>
                </a:solidFill>
                <a:latin typeface="Times New Roman" panose="02020603050405020304" pitchFamily="18" charset="0"/>
                <a:ea typeface="Fraunces Extra Bold" pitchFamily="34" charset="-122"/>
                <a:cs typeface="Times New Roman" panose="02020603050405020304" pitchFamily="18" charset="0"/>
              </a:rPr>
              <a:t>Phạm vi kiểm thử</a:t>
            </a:r>
            <a:endParaRPr lang="en-US" sz="3600" dirty="0">
              <a:latin typeface="Times New Roman" panose="02020603050405020304" pitchFamily="18" charset="0"/>
              <a:cs typeface="Times New Roman" panose="02020603050405020304" pitchFamily="18" charset="0"/>
            </a:endParaRPr>
          </a:p>
        </p:txBody>
      </p:sp>
      <p:sp>
        <p:nvSpPr>
          <p:cNvPr id="6" name="Text 4"/>
          <p:cNvSpPr/>
          <p:nvPr/>
        </p:nvSpPr>
        <p:spPr>
          <a:xfrm>
            <a:off x="7456884" y="3672602"/>
            <a:ext cx="6379726" cy="362903"/>
          </a:xfrm>
          <a:prstGeom prst="rect">
            <a:avLst/>
          </a:prstGeom>
          <a:noFill/>
          <a:ln/>
        </p:spPr>
        <p:txBody>
          <a:bodyPr wrap="none" lIns="0" tIns="0" rIns="0" bIns="0" rtlCol="0" anchor="t"/>
          <a:lstStyle/>
          <a:p>
            <a:pPr marL="0" indent="0" algn="l">
              <a:lnSpc>
                <a:spcPts val="2850"/>
              </a:lnSpc>
              <a:buNone/>
            </a:pP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Kiểm thử toàn diện các khía cạnh:</a:t>
            </a:r>
            <a:endParaRPr lang="en-US" sz="2400" dirty="0">
              <a:latin typeface="Times New Roman" panose="02020603050405020304" pitchFamily="18" charset="0"/>
              <a:cs typeface="Times New Roman" panose="02020603050405020304" pitchFamily="18" charset="0"/>
            </a:endParaRPr>
          </a:p>
        </p:txBody>
      </p:sp>
      <p:sp>
        <p:nvSpPr>
          <p:cNvPr id="7" name="Text 5"/>
          <p:cNvSpPr/>
          <p:nvPr/>
        </p:nvSpPr>
        <p:spPr>
          <a:xfrm>
            <a:off x="7456884" y="4171593"/>
            <a:ext cx="6379726" cy="725805"/>
          </a:xfrm>
          <a:prstGeom prst="rect">
            <a:avLst/>
          </a:prstGeom>
          <a:noFill/>
          <a:ln/>
        </p:spPr>
        <p:txBody>
          <a:bodyPr wrap="square" lIns="0" tIns="0" rIns="0" bIns="0" rtlCol="0" anchor="t"/>
          <a:lstStyle/>
          <a:p>
            <a:pPr marL="342900" indent="-342900" algn="l">
              <a:lnSpc>
                <a:spcPts val="2850"/>
              </a:lnSpc>
              <a:buSzPct val="100000"/>
              <a:buChar char="•"/>
            </a:pPr>
            <a:r>
              <a:rPr lang="en-US" sz="2400" b="1" dirty="0">
                <a:solidFill>
                  <a:srgbClr val="405449"/>
                </a:solidFill>
                <a:latin typeface="Times New Roman" panose="02020603050405020304" pitchFamily="18" charset="0"/>
                <a:ea typeface="Nobile" pitchFamily="34" charset="-122"/>
                <a:cs typeface="Times New Roman" panose="02020603050405020304" pitchFamily="18" charset="0"/>
              </a:rPr>
              <a:t>Chức năng:</a:t>
            </a: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 Bao gồm cả chức năng dành cho quản trị viên (Admin) và người dùng cuối (User).</a:t>
            </a:r>
            <a:endParaRPr lang="en-US" sz="2400" dirty="0">
              <a:latin typeface="Times New Roman" panose="02020603050405020304" pitchFamily="18" charset="0"/>
              <a:cs typeface="Times New Roman" panose="02020603050405020304" pitchFamily="18" charset="0"/>
            </a:endParaRPr>
          </a:p>
        </p:txBody>
      </p:sp>
      <p:sp>
        <p:nvSpPr>
          <p:cNvPr id="8" name="Text 6"/>
          <p:cNvSpPr/>
          <p:nvPr/>
        </p:nvSpPr>
        <p:spPr>
          <a:xfrm>
            <a:off x="7456884" y="4976693"/>
            <a:ext cx="6379726" cy="725805"/>
          </a:xfrm>
          <a:prstGeom prst="rect">
            <a:avLst/>
          </a:prstGeom>
          <a:noFill/>
          <a:ln/>
        </p:spPr>
        <p:txBody>
          <a:bodyPr wrap="square" lIns="0" tIns="0" rIns="0" bIns="0" rtlCol="0" anchor="t"/>
          <a:lstStyle/>
          <a:p>
            <a:pPr marL="342900" indent="-342900" algn="l">
              <a:lnSpc>
                <a:spcPts val="2850"/>
              </a:lnSpc>
              <a:buSzPct val="100000"/>
              <a:buChar char="•"/>
            </a:pPr>
            <a:r>
              <a:rPr lang="en-US" sz="2400" b="1" dirty="0">
                <a:solidFill>
                  <a:srgbClr val="405449"/>
                </a:solidFill>
                <a:latin typeface="Times New Roman" panose="02020603050405020304" pitchFamily="18" charset="0"/>
                <a:ea typeface="Nobile" pitchFamily="34" charset="-122"/>
                <a:cs typeface="Times New Roman" panose="02020603050405020304" pitchFamily="18" charset="0"/>
              </a:rPr>
              <a:t>Hiệu suất:</a:t>
            </a: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 Đánh giá khả năng chịu tải của hệ thống qua Load testing.</a:t>
            </a:r>
            <a:endParaRPr lang="en-US" sz="2400" dirty="0">
              <a:latin typeface="Times New Roman" panose="02020603050405020304" pitchFamily="18" charset="0"/>
              <a:cs typeface="Times New Roman" panose="02020603050405020304" pitchFamily="18" charset="0"/>
            </a:endParaRPr>
          </a:p>
        </p:txBody>
      </p:sp>
      <p:sp>
        <p:nvSpPr>
          <p:cNvPr id="9" name="Text 7"/>
          <p:cNvSpPr/>
          <p:nvPr/>
        </p:nvSpPr>
        <p:spPr>
          <a:xfrm>
            <a:off x="7456884" y="5781794"/>
            <a:ext cx="6379726" cy="725805"/>
          </a:xfrm>
          <a:prstGeom prst="rect">
            <a:avLst/>
          </a:prstGeom>
          <a:noFill/>
          <a:ln/>
        </p:spPr>
        <p:txBody>
          <a:bodyPr wrap="square" lIns="0" tIns="0" rIns="0" bIns="0" rtlCol="0" anchor="t"/>
          <a:lstStyle/>
          <a:p>
            <a:pPr marL="342900" indent="-342900" algn="l">
              <a:lnSpc>
                <a:spcPts val="2850"/>
              </a:lnSpc>
              <a:buSzPct val="100000"/>
              <a:buChar char="•"/>
            </a:pPr>
            <a:r>
              <a:rPr lang="en-US" sz="2400" b="1" dirty="0">
                <a:solidFill>
                  <a:srgbClr val="405449"/>
                </a:solidFill>
                <a:latin typeface="Times New Roman" panose="02020603050405020304" pitchFamily="18" charset="0"/>
                <a:ea typeface="Nobile" pitchFamily="34" charset="-122"/>
                <a:cs typeface="Times New Roman" panose="02020603050405020304" pitchFamily="18" charset="0"/>
              </a:rPr>
              <a:t>Bảo mật:</a:t>
            </a: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 Đảm bảo an toàn cho các giao dịch và dữ liệu người dùng.</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280590" y="1292884"/>
            <a:ext cx="7454622" cy="708779"/>
          </a:xfrm>
          <a:prstGeom prst="rect">
            <a:avLst/>
          </a:prstGeom>
          <a:noFill/>
          <a:ln/>
        </p:spPr>
        <p:txBody>
          <a:bodyPr wrap="none" lIns="0" tIns="0" rIns="0" bIns="0" rtlCol="0" anchor="t"/>
          <a:lstStyle/>
          <a:p>
            <a:pPr marL="0" indent="0" algn="l">
              <a:lnSpc>
                <a:spcPts val="5550"/>
              </a:lnSpc>
              <a:buNone/>
            </a:pPr>
            <a:r>
              <a:rPr lang="en-US" sz="6000" b="1" dirty="0">
                <a:solidFill>
                  <a:srgbClr val="3B4540"/>
                </a:solidFill>
                <a:latin typeface="Times New Roman" panose="02020603050405020304" pitchFamily="18" charset="0"/>
                <a:ea typeface="Fraunces Extra Bold" pitchFamily="34" charset="-122"/>
                <a:cs typeface="Times New Roman" panose="02020603050405020304" pitchFamily="18" charset="0"/>
              </a:rPr>
              <a:t>Quy trình nghiệp vụ chính</a:t>
            </a:r>
            <a:endParaRPr lang="en-US" sz="6000" dirty="0">
              <a:latin typeface="Times New Roman" panose="02020603050405020304" pitchFamily="18" charset="0"/>
              <a:cs typeface="Times New Roman" panose="02020603050405020304" pitchFamily="18" charset="0"/>
            </a:endParaRPr>
          </a:p>
        </p:txBody>
      </p:sp>
      <p:pic>
        <p:nvPicPr>
          <p:cNvPr id="4" name="Image 1" descr="preencoded.png"/>
          <p:cNvPicPr>
            <a:picLocks noChangeAspect="1"/>
          </p:cNvPicPr>
          <p:nvPr/>
        </p:nvPicPr>
        <p:blipFill>
          <a:blip r:embed="rId4"/>
          <a:stretch>
            <a:fillRect/>
          </a:stretch>
        </p:blipFill>
        <p:spPr>
          <a:xfrm>
            <a:off x="793790" y="2400895"/>
            <a:ext cx="7556421" cy="3132772"/>
          </a:xfrm>
          <a:prstGeom prst="rect">
            <a:avLst/>
          </a:prstGeom>
        </p:spPr>
      </p:pic>
      <p:pic>
        <p:nvPicPr>
          <p:cNvPr id="5"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631132" y="4505650"/>
            <a:ext cx="376064" cy="376064"/>
          </a:xfrm>
          <a:prstGeom prst="rect">
            <a:avLst/>
          </a:prstGeom>
        </p:spPr>
      </p:pic>
      <p:sp>
        <p:nvSpPr>
          <p:cNvPr id="6" name="Text 1"/>
          <p:cNvSpPr/>
          <p:nvPr/>
        </p:nvSpPr>
        <p:spPr>
          <a:xfrm>
            <a:off x="1082119" y="4587914"/>
            <a:ext cx="1692291" cy="211536"/>
          </a:xfrm>
          <a:prstGeom prst="rect">
            <a:avLst/>
          </a:prstGeom>
          <a:noFill/>
          <a:ln/>
        </p:spPr>
        <p:txBody>
          <a:bodyPr wrap="none" lIns="0" tIns="0" rIns="0" bIns="0" rtlCol="0" anchor="t"/>
          <a:lstStyle/>
          <a:p>
            <a:pPr marL="0" indent="0" algn="ctr">
              <a:lnSpc>
                <a:spcPts val="1650"/>
              </a:lnSpc>
              <a:buNone/>
            </a:pPr>
            <a:r>
              <a:rPr lang="en-US" b="1" dirty="0">
                <a:solidFill>
                  <a:srgbClr val="405449"/>
                </a:solidFill>
                <a:latin typeface="Times New Roman" panose="02020603050405020304" pitchFamily="18" charset="0"/>
                <a:ea typeface="Fraunces Extra Bold" pitchFamily="34" charset="-122"/>
                <a:cs typeface="Times New Roman" panose="02020603050405020304" pitchFamily="18" charset="0"/>
              </a:rPr>
              <a:t>Giao hàng</a:t>
            </a:r>
            <a:endParaRPr lang="en-US" dirty="0">
              <a:latin typeface="Times New Roman" panose="02020603050405020304" pitchFamily="18" charset="0"/>
              <a:cs typeface="Times New Roman" panose="02020603050405020304" pitchFamily="18" charset="0"/>
            </a:endParaRPr>
          </a:p>
        </p:txBody>
      </p:sp>
      <p:sp>
        <p:nvSpPr>
          <p:cNvPr id="7" name="Text 2"/>
          <p:cNvSpPr/>
          <p:nvPr/>
        </p:nvSpPr>
        <p:spPr>
          <a:xfrm>
            <a:off x="6301896" y="4587914"/>
            <a:ext cx="1692291" cy="211536"/>
          </a:xfrm>
          <a:prstGeom prst="rect">
            <a:avLst/>
          </a:prstGeom>
          <a:noFill/>
          <a:ln/>
        </p:spPr>
        <p:txBody>
          <a:bodyPr wrap="none" lIns="0" tIns="0" rIns="0" bIns="0" rtlCol="0" anchor="t"/>
          <a:lstStyle/>
          <a:p>
            <a:pPr marL="0" indent="0" algn="ctr">
              <a:lnSpc>
                <a:spcPts val="1650"/>
              </a:lnSpc>
              <a:buNone/>
            </a:pPr>
            <a:r>
              <a:rPr lang="en-US" b="1" dirty="0">
                <a:solidFill>
                  <a:srgbClr val="405449"/>
                </a:solidFill>
                <a:latin typeface="Times New Roman" panose="02020603050405020304" pitchFamily="18" charset="0"/>
                <a:ea typeface="Fraunces Extra Bold" pitchFamily="34" charset="-122"/>
                <a:cs typeface="Times New Roman" panose="02020603050405020304" pitchFamily="18" charset="0"/>
              </a:rPr>
              <a:t>Quản lý người dùng</a:t>
            </a:r>
            <a:endParaRPr lang="en-US" dirty="0">
              <a:latin typeface="Times New Roman" panose="02020603050405020304" pitchFamily="18" charset="0"/>
              <a:cs typeface="Times New Roman" panose="02020603050405020304" pitchFamily="18" charset="0"/>
            </a:endParaRPr>
          </a:p>
        </p:txBody>
      </p:sp>
      <p:pic>
        <p:nvPicPr>
          <p:cNvPr id="8"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090968" y="4505650"/>
            <a:ext cx="376065" cy="376064"/>
          </a:xfrm>
          <a:prstGeom prst="rect">
            <a:avLst/>
          </a:prstGeom>
        </p:spPr>
      </p:pic>
      <p:sp>
        <p:nvSpPr>
          <p:cNvPr id="9" name="Text 3"/>
          <p:cNvSpPr/>
          <p:nvPr/>
        </p:nvSpPr>
        <p:spPr>
          <a:xfrm>
            <a:off x="6369588" y="3143826"/>
            <a:ext cx="1692290" cy="211536"/>
          </a:xfrm>
          <a:prstGeom prst="rect">
            <a:avLst/>
          </a:prstGeom>
          <a:noFill/>
          <a:ln/>
        </p:spPr>
        <p:txBody>
          <a:bodyPr wrap="none" lIns="0" tIns="0" rIns="0" bIns="0" rtlCol="0" anchor="t"/>
          <a:lstStyle/>
          <a:p>
            <a:pPr marL="0" indent="0" algn="ctr">
              <a:lnSpc>
                <a:spcPts val="1650"/>
              </a:lnSpc>
              <a:buNone/>
            </a:pPr>
            <a:r>
              <a:rPr lang="en-US" b="1" dirty="0">
                <a:solidFill>
                  <a:srgbClr val="405449"/>
                </a:solidFill>
                <a:latin typeface="Times New Roman" panose="02020603050405020304" pitchFamily="18" charset="0"/>
                <a:ea typeface="Fraunces Extra Bold" pitchFamily="34" charset="-122"/>
                <a:cs typeface="Times New Roman" panose="02020603050405020304" pitchFamily="18" charset="0"/>
              </a:rPr>
              <a:t>Thanh toán</a:t>
            </a:r>
            <a:endParaRPr lang="en-US" dirty="0">
              <a:latin typeface="Times New Roman" panose="02020603050405020304" pitchFamily="18" charset="0"/>
              <a:cs typeface="Times New Roman" panose="02020603050405020304" pitchFamily="18" charset="0"/>
            </a:endParaRPr>
          </a:p>
        </p:txBody>
      </p:sp>
      <p:pic>
        <p:nvPicPr>
          <p:cNvPr id="10" name="Image 4"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098489" y="3054041"/>
            <a:ext cx="376065" cy="376065"/>
          </a:xfrm>
          <a:prstGeom prst="rect">
            <a:avLst/>
          </a:prstGeom>
        </p:spPr>
      </p:pic>
      <p:sp>
        <p:nvSpPr>
          <p:cNvPr id="11" name="Text 4"/>
          <p:cNvSpPr/>
          <p:nvPr/>
        </p:nvSpPr>
        <p:spPr>
          <a:xfrm>
            <a:off x="1082119" y="3151347"/>
            <a:ext cx="1692291" cy="211536"/>
          </a:xfrm>
          <a:prstGeom prst="rect">
            <a:avLst/>
          </a:prstGeom>
          <a:noFill/>
          <a:ln/>
        </p:spPr>
        <p:txBody>
          <a:bodyPr wrap="none" lIns="0" tIns="0" rIns="0" bIns="0" rtlCol="0" anchor="t"/>
          <a:lstStyle/>
          <a:p>
            <a:pPr marL="0" indent="0" algn="ctr">
              <a:lnSpc>
                <a:spcPts val="1650"/>
              </a:lnSpc>
              <a:buNone/>
            </a:pPr>
            <a:r>
              <a:rPr lang="en-US" b="1" dirty="0">
                <a:solidFill>
                  <a:srgbClr val="405449"/>
                </a:solidFill>
                <a:latin typeface="Times New Roman" panose="02020603050405020304" pitchFamily="18" charset="0"/>
                <a:ea typeface="Fraunces Extra Bold" pitchFamily="34" charset="-122"/>
                <a:cs typeface="Times New Roman" panose="02020603050405020304" pitchFamily="18" charset="0"/>
              </a:rPr>
              <a:t>Giỏ hàng</a:t>
            </a:r>
            <a:endParaRPr lang="en-US" dirty="0">
              <a:latin typeface="Times New Roman" panose="02020603050405020304" pitchFamily="18" charset="0"/>
              <a:cs typeface="Times New Roman" panose="02020603050405020304" pitchFamily="18" charset="0"/>
            </a:endParaRPr>
          </a:p>
        </p:txBody>
      </p:sp>
      <p:pic>
        <p:nvPicPr>
          <p:cNvPr id="12" name="Image 5"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631837" y="3069083"/>
            <a:ext cx="376064" cy="376065"/>
          </a:xfrm>
          <a:prstGeom prst="rect">
            <a:avLst/>
          </a:prstGeom>
        </p:spPr>
      </p:pic>
      <p:sp>
        <p:nvSpPr>
          <p:cNvPr id="13" name="Text 5"/>
          <p:cNvSpPr/>
          <p:nvPr/>
        </p:nvSpPr>
        <p:spPr>
          <a:xfrm>
            <a:off x="793790" y="5788819"/>
            <a:ext cx="7556421" cy="1088708"/>
          </a:xfrm>
          <a:prstGeom prst="rect">
            <a:avLst/>
          </a:prstGeom>
          <a:noFill/>
          <a:ln/>
        </p:spPr>
        <p:txBody>
          <a:bodyPr wrap="square" lIns="0" tIns="0" rIns="0" bIns="0" rtlCol="0" anchor="t"/>
          <a:lstStyle/>
          <a:p>
            <a:pPr marL="0" indent="0" algn="l">
              <a:lnSpc>
                <a:spcPts val="2850"/>
              </a:lnSpc>
              <a:buNone/>
            </a:pP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Các luồng nghiệp vụ cốt lõi này là xương sống của hệ thống, đảm bảo trải nghiệm liền mạch từ khi khách hàng chọn món đến khi nhận được đơn hàng.</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37580" y="567928"/>
            <a:ext cx="7266861" cy="569238"/>
          </a:xfrm>
          <a:prstGeom prst="rect">
            <a:avLst/>
          </a:prstGeom>
          <a:noFill/>
          <a:ln/>
        </p:spPr>
        <p:txBody>
          <a:bodyPr wrap="none" lIns="0" tIns="0" rIns="0" bIns="0" rtlCol="0" anchor="t"/>
          <a:lstStyle/>
          <a:p>
            <a:pPr marL="0" indent="0" algn="l">
              <a:lnSpc>
                <a:spcPts val="4450"/>
              </a:lnSpc>
              <a:buNone/>
            </a:pPr>
            <a:r>
              <a:rPr lang="en-US" sz="3550" b="1" dirty="0">
                <a:solidFill>
                  <a:srgbClr val="3B4540"/>
                </a:solidFill>
                <a:latin typeface="Times New Roman" panose="02020603050405020304" pitchFamily="18" charset="0"/>
                <a:ea typeface="Fraunces Extra Bold" pitchFamily="34" charset="-122"/>
                <a:cs typeface="Times New Roman" panose="02020603050405020304" pitchFamily="18" charset="0"/>
              </a:rPr>
              <a:t>Kế hoạch &amp; Chiến lược kiểm thử</a:t>
            </a:r>
            <a:endParaRPr lang="en-US" sz="3550" dirty="0">
              <a:latin typeface="Times New Roman" panose="02020603050405020304" pitchFamily="18" charset="0"/>
              <a:cs typeface="Times New Roman" panose="02020603050405020304" pitchFamily="18" charset="0"/>
            </a:endParaRPr>
          </a:p>
        </p:txBody>
      </p:sp>
      <p:sp>
        <p:nvSpPr>
          <p:cNvPr id="3" name="Shape 1"/>
          <p:cNvSpPr/>
          <p:nvPr/>
        </p:nvSpPr>
        <p:spPr>
          <a:xfrm>
            <a:off x="637580" y="1501497"/>
            <a:ext cx="4330303" cy="6160175"/>
          </a:xfrm>
          <a:prstGeom prst="roundRect">
            <a:avLst>
              <a:gd name="adj" fmla="val 2534"/>
            </a:avLst>
          </a:prstGeom>
          <a:solidFill>
            <a:srgbClr val="FAFFFA"/>
          </a:solidFill>
          <a:ln w="22860">
            <a:solidFill>
              <a:srgbClr val="CED9CE"/>
            </a:solidFill>
            <a:prstDash val="solid"/>
          </a:ln>
        </p:spPr>
        <p:txBody>
          <a:bodyPr/>
          <a:lstStyle/>
          <a:p>
            <a:endParaRPr lang="vi-VN">
              <a:latin typeface="Times New Roman" panose="02020603050405020304" pitchFamily="18" charset="0"/>
              <a:cs typeface="Times New Roman" panose="02020603050405020304" pitchFamily="18" charset="0"/>
            </a:endParaRPr>
          </a:p>
        </p:txBody>
      </p:sp>
      <p:sp>
        <p:nvSpPr>
          <p:cNvPr id="4" name="Shape 2"/>
          <p:cNvSpPr/>
          <p:nvPr/>
        </p:nvSpPr>
        <p:spPr>
          <a:xfrm>
            <a:off x="614720" y="1501497"/>
            <a:ext cx="91440" cy="6160175"/>
          </a:xfrm>
          <a:prstGeom prst="roundRect">
            <a:avLst>
              <a:gd name="adj" fmla="val 179300"/>
            </a:avLst>
          </a:prstGeom>
          <a:solidFill>
            <a:srgbClr val="438951"/>
          </a:solidFill>
          <a:ln/>
        </p:spPr>
        <p:txBody>
          <a:bodyPr/>
          <a:lstStyle/>
          <a:p>
            <a:endParaRPr lang="vi-VN">
              <a:latin typeface="Times New Roman" panose="02020603050405020304" pitchFamily="18" charset="0"/>
              <a:cs typeface="Times New Roman" panose="02020603050405020304" pitchFamily="18" charset="0"/>
            </a:endParaRPr>
          </a:p>
        </p:txBody>
      </p:sp>
      <p:sp>
        <p:nvSpPr>
          <p:cNvPr id="5" name="Text 3"/>
          <p:cNvSpPr/>
          <p:nvPr/>
        </p:nvSpPr>
        <p:spPr>
          <a:xfrm>
            <a:off x="911185" y="1706523"/>
            <a:ext cx="3601403" cy="341471"/>
          </a:xfrm>
          <a:prstGeom prst="rect">
            <a:avLst/>
          </a:prstGeom>
          <a:noFill/>
          <a:ln/>
        </p:spPr>
        <p:txBody>
          <a:bodyPr wrap="none" lIns="0" tIns="0" rIns="0" bIns="0" rtlCol="0" anchor="t"/>
          <a:lstStyle/>
          <a:p>
            <a:pPr marL="0" indent="0" algn="l">
              <a:lnSpc>
                <a:spcPts val="2650"/>
              </a:lnSpc>
              <a:buNone/>
            </a:pPr>
            <a:r>
              <a:rPr lang="en-US" sz="2400" b="1" dirty="0">
                <a:solidFill>
                  <a:srgbClr val="405449"/>
                </a:solidFill>
                <a:latin typeface="Times New Roman" panose="02020603050405020304" pitchFamily="18" charset="0"/>
                <a:ea typeface="Fraunces Extra Bold" pitchFamily="34" charset="-122"/>
                <a:cs typeface="Times New Roman" panose="02020603050405020304" pitchFamily="18" charset="0"/>
              </a:rPr>
              <a:t>Mô hình áp dụng: V-Model</a:t>
            </a:r>
            <a:endParaRPr lang="en-US" sz="2400" dirty="0">
              <a:latin typeface="Times New Roman" panose="02020603050405020304" pitchFamily="18" charset="0"/>
              <a:cs typeface="Times New Roman" panose="02020603050405020304" pitchFamily="18" charset="0"/>
            </a:endParaRPr>
          </a:p>
        </p:txBody>
      </p:sp>
      <p:sp>
        <p:nvSpPr>
          <p:cNvPr id="6" name="Text 4"/>
          <p:cNvSpPr/>
          <p:nvPr/>
        </p:nvSpPr>
        <p:spPr>
          <a:xfrm>
            <a:off x="911185" y="2157293"/>
            <a:ext cx="3851672" cy="1457325"/>
          </a:xfrm>
          <a:prstGeom prst="rect">
            <a:avLst/>
          </a:prstGeom>
          <a:noFill/>
          <a:ln/>
        </p:spPr>
        <p:txBody>
          <a:bodyPr wrap="square" lIns="0" tIns="0" rIns="0" bIns="0" rtlCol="0" anchor="t"/>
          <a:lstStyle/>
          <a:p>
            <a:pPr marL="0" indent="0" algn="l">
              <a:lnSpc>
                <a:spcPts val="2250"/>
              </a:lnSpc>
              <a:buNone/>
            </a:pPr>
            <a:r>
              <a:rPr lang="en-US" sz="1600" dirty="0">
                <a:solidFill>
                  <a:srgbClr val="405449"/>
                </a:solidFill>
                <a:latin typeface="Times New Roman" panose="02020603050405020304" pitchFamily="18" charset="0"/>
                <a:ea typeface="Nobile" pitchFamily="34" charset="-122"/>
                <a:cs typeface="Times New Roman" panose="02020603050405020304" pitchFamily="18" charset="0"/>
              </a:rPr>
              <a:t>V-Model được chọn để đảm bảo sự </a:t>
            </a:r>
            <a:r>
              <a:rPr lang="en-US" sz="1600" b="1" dirty="0">
                <a:solidFill>
                  <a:srgbClr val="405449"/>
                </a:solidFill>
                <a:latin typeface="Times New Roman" panose="02020603050405020304" pitchFamily="18" charset="0"/>
                <a:ea typeface="Nobile" pitchFamily="34" charset="-122"/>
                <a:cs typeface="Times New Roman" panose="02020603050405020304" pitchFamily="18" charset="0"/>
              </a:rPr>
              <a:t>liên kết chặt chẽ</a:t>
            </a:r>
            <a:r>
              <a:rPr lang="en-US" sz="1600" dirty="0">
                <a:solidFill>
                  <a:srgbClr val="405449"/>
                </a:solidFill>
                <a:latin typeface="Times New Roman" panose="02020603050405020304" pitchFamily="18" charset="0"/>
                <a:ea typeface="Nobile" pitchFamily="34" charset="-122"/>
                <a:cs typeface="Times New Roman" panose="02020603050405020304" pitchFamily="18" charset="0"/>
              </a:rPr>
              <a:t> giữa các giai đoạn phát triển và kiểm thử, từ yêu cầu đến chấp nhận người dùng, giúp phát hiện lỗi sớm và giảm thiểu chi phí sửa lỗi.</a:t>
            </a:r>
            <a:endParaRPr lang="en-US" sz="1600" dirty="0">
              <a:latin typeface="Times New Roman" panose="02020603050405020304" pitchFamily="18" charset="0"/>
              <a:cs typeface="Times New Roman" panose="02020603050405020304" pitchFamily="18" charset="0"/>
            </a:endParaRPr>
          </a:p>
        </p:txBody>
      </p:sp>
      <p:pic>
        <p:nvPicPr>
          <p:cNvPr id="7" name="Image 0" descr="preencoded.png"/>
          <p:cNvPicPr>
            <a:picLocks noChangeAspect="1"/>
          </p:cNvPicPr>
          <p:nvPr/>
        </p:nvPicPr>
        <p:blipFill>
          <a:blip r:embed="rId3"/>
          <a:stretch>
            <a:fillRect/>
          </a:stretch>
        </p:blipFill>
        <p:spPr>
          <a:xfrm>
            <a:off x="911185" y="3819525"/>
            <a:ext cx="3851672" cy="2635329"/>
          </a:xfrm>
          <a:prstGeom prst="rect">
            <a:avLst/>
          </a:prstGeom>
        </p:spPr>
      </p:pic>
      <p:sp>
        <p:nvSpPr>
          <p:cNvPr id="8" name="Shape 5"/>
          <p:cNvSpPr/>
          <p:nvPr/>
        </p:nvSpPr>
        <p:spPr>
          <a:xfrm>
            <a:off x="5150048" y="1501497"/>
            <a:ext cx="4330303" cy="6160175"/>
          </a:xfrm>
          <a:prstGeom prst="roundRect">
            <a:avLst>
              <a:gd name="adj" fmla="val 2534"/>
            </a:avLst>
          </a:prstGeom>
          <a:solidFill>
            <a:srgbClr val="FAFFFA"/>
          </a:solidFill>
          <a:ln w="22860">
            <a:solidFill>
              <a:srgbClr val="CED9CE"/>
            </a:solidFill>
            <a:prstDash val="solid"/>
          </a:ln>
        </p:spPr>
        <p:txBody>
          <a:bodyPr/>
          <a:lstStyle/>
          <a:p>
            <a:endParaRPr lang="vi-VN">
              <a:latin typeface="Times New Roman" panose="02020603050405020304" pitchFamily="18" charset="0"/>
              <a:cs typeface="Times New Roman" panose="02020603050405020304" pitchFamily="18" charset="0"/>
            </a:endParaRPr>
          </a:p>
        </p:txBody>
      </p:sp>
      <p:sp>
        <p:nvSpPr>
          <p:cNvPr id="9" name="Shape 6"/>
          <p:cNvSpPr/>
          <p:nvPr/>
        </p:nvSpPr>
        <p:spPr>
          <a:xfrm>
            <a:off x="5127188" y="1501497"/>
            <a:ext cx="91440" cy="6160175"/>
          </a:xfrm>
          <a:prstGeom prst="roundRect">
            <a:avLst>
              <a:gd name="adj" fmla="val 179300"/>
            </a:avLst>
          </a:prstGeom>
          <a:solidFill>
            <a:srgbClr val="438951"/>
          </a:solidFill>
          <a:ln/>
        </p:spPr>
        <p:txBody>
          <a:bodyPr/>
          <a:lstStyle/>
          <a:p>
            <a:endParaRPr lang="vi-VN">
              <a:latin typeface="Times New Roman" panose="02020603050405020304" pitchFamily="18" charset="0"/>
              <a:cs typeface="Times New Roman" panose="02020603050405020304" pitchFamily="18" charset="0"/>
            </a:endParaRPr>
          </a:p>
        </p:txBody>
      </p:sp>
      <p:sp>
        <p:nvSpPr>
          <p:cNvPr id="10" name="Text 7"/>
          <p:cNvSpPr/>
          <p:nvPr/>
        </p:nvSpPr>
        <p:spPr>
          <a:xfrm>
            <a:off x="5423654" y="1706523"/>
            <a:ext cx="3851672" cy="682943"/>
          </a:xfrm>
          <a:prstGeom prst="rect">
            <a:avLst/>
          </a:prstGeom>
          <a:noFill/>
          <a:ln/>
        </p:spPr>
        <p:txBody>
          <a:bodyPr wrap="square" lIns="0" tIns="0" rIns="0" bIns="0" rtlCol="0" anchor="t"/>
          <a:lstStyle/>
          <a:p>
            <a:pPr marL="0" indent="0" algn="l">
              <a:lnSpc>
                <a:spcPts val="2650"/>
              </a:lnSpc>
              <a:buNone/>
            </a:pPr>
            <a:r>
              <a:rPr lang="en-US" sz="2400" b="1" dirty="0">
                <a:solidFill>
                  <a:srgbClr val="405449"/>
                </a:solidFill>
                <a:latin typeface="Times New Roman" panose="02020603050405020304" pitchFamily="18" charset="0"/>
                <a:ea typeface="Fraunces Extra Bold" pitchFamily="34" charset="-122"/>
                <a:cs typeface="Times New Roman" panose="02020603050405020304" pitchFamily="18" charset="0"/>
              </a:rPr>
              <a:t>Phương pháp: Kiểm thử hộp đen (Black-box testing)</a:t>
            </a:r>
            <a:endParaRPr lang="en-US" sz="2400" dirty="0">
              <a:latin typeface="Times New Roman" panose="02020603050405020304" pitchFamily="18" charset="0"/>
              <a:cs typeface="Times New Roman" panose="02020603050405020304" pitchFamily="18" charset="0"/>
            </a:endParaRPr>
          </a:p>
        </p:txBody>
      </p:sp>
      <p:sp>
        <p:nvSpPr>
          <p:cNvPr id="11" name="Text 8"/>
          <p:cNvSpPr/>
          <p:nvPr/>
        </p:nvSpPr>
        <p:spPr>
          <a:xfrm>
            <a:off x="5423654" y="2498765"/>
            <a:ext cx="3851672" cy="1457325"/>
          </a:xfrm>
          <a:prstGeom prst="rect">
            <a:avLst/>
          </a:prstGeom>
          <a:noFill/>
          <a:ln/>
        </p:spPr>
        <p:txBody>
          <a:bodyPr wrap="square" lIns="0" tIns="0" rIns="0" bIns="0" rtlCol="0" anchor="t"/>
          <a:lstStyle/>
          <a:p>
            <a:pPr marL="0" indent="0" algn="l">
              <a:lnSpc>
                <a:spcPts val="2250"/>
              </a:lnSpc>
              <a:buNone/>
            </a:pPr>
            <a:r>
              <a:rPr lang="en-US" sz="1600" dirty="0">
                <a:solidFill>
                  <a:srgbClr val="405449"/>
                </a:solidFill>
                <a:latin typeface="Times New Roman" panose="02020603050405020304" pitchFamily="18" charset="0"/>
                <a:ea typeface="Nobile" pitchFamily="34" charset="-122"/>
                <a:cs typeface="Times New Roman" panose="02020603050405020304" pitchFamily="18" charset="0"/>
              </a:rPr>
              <a:t>Tập trung kiểm thử các chức năng của ứng dụng </a:t>
            </a:r>
            <a:r>
              <a:rPr lang="en-US" sz="1600" b="1" dirty="0">
                <a:solidFill>
                  <a:srgbClr val="405449"/>
                </a:solidFill>
                <a:latin typeface="Times New Roman" panose="02020603050405020304" pitchFamily="18" charset="0"/>
                <a:ea typeface="Nobile" pitchFamily="34" charset="-122"/>
                <a:cs typeface="Times New Roman" panose="02020603050405020304" pitchFamily="18" charset="0"/>
              </a:rPr>
              <a:t>mà không cần truy cập vào mã nguồn</a:t>
            </a:r>
            <a:r>
              <a:rPr lang="en-US" sz="1600" dirty="0">
                <a:solidFill>
                  <a:srgbClr val="405449"/>
                </a:solidFill>
                <a:latin typeface="Times New Roman" panose="02020603050405020304" pitchFamily="18" charset="0"/>
                <a:ea typeface="Nobile" pitchFamily="34" charset="-122"/>
                <a:cs typeface="Times New Roman" panose="02020603050405020304" pitchFamily="18" charset="0"/>
              </a:rPr>
              <a:t>, dựa trên yêu cầu và đặc tả để đảm bảo hệ thống hoạt động đúng như mong đợi từ góc độ người dùng.</a:t>
            </a:r>
            <a:endParaRPr lang="en-US" sz="1600" dirty="0">
              <a:latin typeface="Times New Roman" panose="02020603050405020304" pitchFamily="18" charset="0"/>
              <a:cs typeface="Times New Roman" panose="02020603050405020304" pitchFamily="18" charset="0"/>
            </a:endParaRPr>
          </a:p>
        </p:txBody>
      </p:sp>
      <p:pic>
        <p:nvPicPr>
          <p:cNvPr id="12" name="Image 1" descr="preencoded.png"/>
          <p:cNvPicPr>
            <a:picLocks noChangeAspect="1"/>
          </p:cNvPicPr>
          <p:nvPr/>
        </p:nvPicPr>
        <p:blipFill>
          <a:blip r:embed="rId4"/>
          <a:stretch>
            <a:fillRect/>
          </a:stretch>
        </p:blipFill>
        <p:spPr>
          <a:xfrm>
            <a:off x="5423654" y="4160996"/>
            <a:ext cx="3851672" cy="2635329"/>
          </a:xfrm>
          <a:prstGeom prst="rect">
            <a:avLst/>
          </a:prstGeom>
        </p:spPr>
      </p:pic>
      <p:sp>
        <p:nvSpPr>
          <p:cNvPr id="13" name="Shape 9"/>
          <p:cNvSpPr/>
          <p:nvPr/>
        </p:nvSpPr>
        <p:spPr>
          <a:xfrm>
            <a:off x="9662517" y="1501497"/>
            <a:ext cx="4330303" cy="6160175"/>
          </a:xfrm>
          <a:prstGeom prst="roundRect">
            <a:avLst>
              <a:gd name="adj" fmla="val 2534"/>
            </a:avLst>
          </a:prstGeom>
          <a:solidFill>
            <a:srgbClr val="FAFFFA"/>
          </a:solidFill>
          <a:ln w="22860">
            <a:solidFill>
              <a:srgbClr val="CED9CE"/>
            </a:solidFill>
            <a:prstDash val="solid"/>
          </a:ln>
        </p:spPr>
        <p:txBody>
          <a:bodyPr/>
          <a:lstStyle/>
          <a:p>
            <a:endParaRPr lang="vi-VN">
              <a:latin typeface="Times New Roman" panose="02020603050405020304" pitchFamily="18" charset="0"/>
              <a:cs typeface="Times New Roman" panose="02020603050405020304" pitchFamily="18" charset="0"/>
            </a:endParaRPr>
          </a:p>
        </p:txBody>
      </p:sp>
      <p:sp>
        <p:nvSpPr>
          <p:cNvPr id="14" name="Shape 10"/>
          <p:cNvSpPr/>
          <p:nvPr/>
        </p:nvSpPr>
        <p:spPr>
          <a:xfrm>
            <a:off x="9639657" y="1501497"/>
            <a:ext cx="91440" cy="6160175"/>
          </a:xfrm>
          <a:prstGeom prst="roundRect">
            <a:avLst>
              <a:gd name="adj" fmla="val 179300"/>
            </a:avLst>
          </a:prstGeom>
          <a:solidFill>
            <a:srgbClr val="438951"/>
          </a:solidFill>
          <a:ln/>
        </p:spPr>
        <p:txBody>
          <a:bodyPr/>
          <a:lstStyle/>
          <a:p>
            <a:endParaRPr lang="vi-VN">
              <a:latin typeface="Times New Roman" panose="02020603050405020304" pitchFamily="18" charset="0"/>
              <a:cs typeface="Times New Roman" panose="02020603050405020304" pitchFamily="18" charset="0"/>
            </a:endParaRPr>
          </a:p>
        </p:txBody>
      </p:sp>
      <p:sp>
        <p:nvSpPr>
          <p:cNvPr id="15" name="Text 11"/>
          <p:cNvSpPr/>
          <p:nvPr/>
        </p:nvSpPr>
        <p:spPr>
          <a:xfrm>
            <a:off x="9936123" y="1706523"/>
            <a:ext cx="3280529" cy="341471"/>
          </a:xfrm>
          <a:prstGeom prst="rect">
            <a:avLst/>
          </a:prstGeom>
          <a:noFill/>
          <a:ln/>
        </p:spPr>
        <p:txBody>
          <a:bodyPr wrap="none" lIns="0" tIns="0" rIns="0" bIns="0" rtlCol="0" anchor="t"/>
          <a:lstStyle/>
          <a:p>
            <a:pPr marL="0" indent="0" algn="l">
              <a:lnSpc>
                <a:spcPts val="2650"/>
              </a:lnSpc>
              <a:buNone/>
            </a:pPr>
            <a:r>
              <a:rPr lang="en-US" sz="2400" b="1" dirty="0">
                <a:solidFill>
                  <a:srgbClr val="405449"/>
                </a:solidFill>
                <a:latin typeface="Times New Roman" panose="02020603050405020304" pitchFamily="18" charset="0"/>
                <a:ea typeface="Fraunces Extra Bold" pitchFamily="34" charset="-122"/>
                <a:cs typeface="Times New Roman" panose="02020603050405020304" pitchFamily="18" charset="0"/>
              </a:rPr>
              <a:t>Công cụ hỗ trợ kiểm thử</a:t>
            </a:r>
            <a:endParaRPr lang="en-US" sz="2400" dirty="0">
              <a:latin typeface="Times New Roman" panose="02020603050405020304" pitchFamily="18" charset="0"/>
              <a:cs typeface="Times New Roman" panose="02020603050405020304" pitchFamily="18" charset="0"/>
            </a:endParaRPr>
          </a:p>
        </p:txBody>
      </p:sp>
      <p:sp>
        <p:nvSpPr>
          <p:cNvPr id="16" name="Text 12"/>
          <p:cNvSpPr/>
          <p:nvPr/>
        </p:nvSpPr>
        <p:spPr>
          <a:xfrm>
            <a:off x="9936123" y="2157293"/>
            <a:ext cx="3851672" cy="874395"/>
          </a:xfrm>
          <a:prstGeom prst="rect">
            <a:avLst/>
          </a:prstGeom>
          <a:noFill/>
          <a:ln/>
        </p:spPr>
        <p:txBody>
          <a:bodyPr wrap="square" lIns="0" tIns="0" rIns="0" bIns="0" rtlCol="0" anchor="t"/>
          <a:lstStyle/>
          <a:p>
            <a:pPr marL="342900" indent="-342900" algn="l">
              <a:lnSpc>
                <a:spcPts val="2250"/>
              </a:lnSpc>
              <a:buSzPct val="100000"/>
              <a:buChar char="•"/>
            </a:pPr>
            <a:r>
              <a:rPr lang="en-US" sz="1600" b="1" dirty="0">
                <a:solidFill>
                  <a:srgbClr val="405449"/>
                </a:solidFill>
                <a:latin typeface="Times New Roman" panose="02020603050405020304" pitchFamily="18" charset="0"/>
                <a:ea typeface="Nobile" pitchFamily="34" charset="-122"/>
                <a:cs typeface="Times New Roman" panose="02020603050405020304" pitchFamily="18" charset="0"/>
              </a:rPr>
              <a:t>K6:</a:t>
            </a:r>
            <a:r>
              <a:rPr lang="en-US" sz="1600" dirty="0">
                <a:solidFill>
                  <a:srgbClr val="405449"/>
                </a:solidFill>
                <a:latin typeface="Times New Roman" panose="02020603050405020304" pitchFamily="18" charset="0"/>
                <a:ea typeface="Nobile" pitchFamily="34" charset="-122"/>
                <a:cs typeface="Times New Roman" panose="02020603050405020304" pitchFamily="18" charset="0"/>
              </a:rPr>
              <a:t> Dùng cho </a:t>
            </a:r>
            <a:r>
              <a:rPr lang="en-US" sz="1600" b="1" dirty="0">
                <a:solidFill>
                  <a:srgbClr val="405449"/>
                </a:solidFill>
                <a:latin typeface="Times New Roman" panose="02020603050405020304" pitchFamily="18" charset="0"/>
                <a:ea typeface="Nobile" pitchFamily="34" charset="-122"/>
                <a:cs typeface="Times New Roman" panose="02020603050405020304" pitchFamily="18" charset="0"/>
              </a:rPr>
              <a:t>kiểm thử hiệu năng</a:t>
            </a:r>
            <a:r>
              <a:rPr lang="en-US" sz="1600" dirty="0">
                <a:solidFill>
                  <a:srgbClr val="405449"/>
                </a:solidFill>
                <a:latin typeface="Times New Roman" panose="02020603050405020304" pitchFamily="18" charset="0"/>
                <a:ea typeface="Nobile" pitchFamily="34" charset="-122"/>
                <a:cs typeface="Times New Roman" panose="02020603050405020304" pitchFamily="18" charset="0"/>
              </a:rPr>
              <a:t> (Load testing), đánh giá khả năng chịu tải của hệ thống.</a:t>
            </a:r>
            <a:endParaRPr lang="en-US" sz="1600" dirty="0">
              <a:latin typeface="Times New Roman" panose="02020603050405020304" pitchFamily="18" charset="0"/>
              <a:cs typeface="Times New Roman" panose="02020603050405020304" pitchFamily="18" charset="0"/>
            </a:endParaRPr>
          </a:p>
        </p:txBody>
      </p:sp>
      <p:sp>
        <p:nvSpPr>
          <p:cNvPr id="17" name="Text 13"/>
          <p:cNvSpPr/>
          <p:nvPr/>
        </p:nvSpPr>
        <p:spPr>
          <a:xfrm>
            <a:off x="9936123" y="3095387"/>
            <a:ext cx="3851672" cy="874395"/>
          </a:xfrm>
          <a:prstGeom prst="rect">
            <a:avLst/>
          </a:prstGeom>
          <a:noFill/>
          <a:ln/>
        </p:spPr>
        <p:txBody>
          <a:bodyPr wrap="square" lIns="0" tIns="0" rIns="0" bIns="0" rtlCol="0" anchor="t"/>
          <a:lstStyle/>
          <a:p>
            <a:pPr marL="342900" indent="-342900" algn="l">
              <a:lnSpc>
                <a:spcPts val="2250"/>
              </a:lnSpc>
              <a:buSzPct val="100000"/>
              <a:buChar char="•"/>
            </a:pPr>
            <a:r>
              <a:rPr lang="en-US" sz="1600" b="1" dirty="0">
                <a:solidFill>
                  <a:srgbClr val="405449"/>
                </a:solidFill>
                <a:latin typeface="Times New Roman" panose="02020603050405020304" pitchFamily="18" charset="0"/>
                <a:ea typeface="Nobile" pitchFamily="34" charset="-122"/>
                <a:cs typeface="Times New Roman" panose="02020603050405020304" pitchFamily="18" charset="0"/>
              </a:rPr>
              <a:t>Selenium:</a:t>
            </a:r>
            <a:r>
              <a:rPr lang="en-US" sz="1600" dirty="0">
                <a:solidFill>
                  <a:srgbClr val="405449"/>
                </a:solidFill>
                <a:latin typeface="Times New Roman" panose="02020603050405020304" pitchFamily="18" charset="0"/>
                <a:ea typeface="Nobile" pitchFamily="34" charset="-122"/>
                <a:cs typeface="Times New Roman" panose="02020603050405020304" pitchFamily="18" charset="0"/>
              </a:rPr>
              <a:t> Thực hiện </a:t>
            </a:r>
            <a:r>
              <a:rPr lang="en-US" sz="1600" b="1" dirty="0">
                <a:solidFill>
                  <a:srgbClr val="405449"/>
                </a:solidFill>
                <a:latin typeface="Times New Roman" panose="02020603050405020304" pitchFamily="18" charset="0"/>
                <a:ea typeface="Nobile" pitchFamily="34" charset="-122"/>
                <a:cs typeface="Times New Roman" panose="02020603050405020304" pitchFamily="18" charset="0"/>
              </a:rPr>
              <a:t>kiểm thử giao diện</a:t>
            </a:r>
            <a:r>
              <a:rPr lang="en-US" sz="1600" dirty="0">
                <a:solidFill>
                  <a:srgbClr val="405449"/>
                </a:solidFill>
                <a:latin typeface="Times New Roman" panose="02020603050405020304" pitchFamily="18" charset="0"/>
                <a:ea typeface="Nobile" pitchFamily="34" charset="-122"/>
                <a:cs typeface="Times New Roman" panose="02020603050405020304" pitchFamily="18" charset="0"/>
              </a:rPr>
              <a:t> (UI testing) và tự động hóa các kịch bản người dùng.</a:t>
            </a:r>
            <a:endParaRPr lang="en-US" sz="1600" dirty="0">
              <a:latin typeface="Times New Roman" panose="02020603050405020304" pitchFamily="18" charset="0"/>
              <a:cs typeface="Times New Roman" panose="02020603050405020304" pitchFamily="18" charset="0"/>
            </a:endParaRPr>
          </a:p>
        </p:txBody>
      </p:sp>
      <p:sp>
        <p:nvSpPr>
          <p:cNvPr id="18" name="Text 14"/>
          <p:cNvSpPr/>
          <p:nvPr/>
        </p:nvSpPr>
        <p:spPr>
          <a:xfrm>
            <a:off x="9936123" y="4033480"/>
            <a:ext cx="3851672" cy="582930"/>
          </a:xfrm>
          <a:prstGeom prst="rect">
            <a:avLst/>
          </a:prstGeom>
          <a:noFill/>
          <a:ln/>
        </p:spPr>
        <p:txBody>
          <a:bodyPr wrap="square" lIns="0" tIns="0" rIns="0" bIns="0" rtlCol="0" anchor="t"/>
          <a:lstStyle/>
          <a:p>
            <a:pPr marL="342900" indent="-342900" algn="l">
              <a:lnSpc>
                <a:spcPts val="2250"/>
              </a:lnSpc>
              <a:buSzPct val="100000"/>
              <a:buChar char="•"/>
            </a:pPr>
            <a:r>
              <a:rPr lang="en-US" sz="1600" b="1" dirty="0">
                <a:solidFill>
                  <a:srgbClr val="405449"/>
                </a:solidFill>
                <a:latin typeface="Times New Roman" panose="02020603050405020304" pitchFamily="18" charset="0"/>
                <a:ea typeface="Nobile" pitchFamily="34" charset="-122"/>
                <a:cs typeface="Times New Roman" panose="02020603050405020304" pitchFamily="18" charset="0"/>
              </a:rPr>
              <a:t>MySQL:</a:t>
            </a:r>
            <a:r>
              <a:rPr lang="en-US" sz="1600" dirty="0">
                <a:solidFill>
                  <a:srgbClr val="405449"/>
                </a:solidFill>
                <a:latin typeface="Times New Roman" panose="02020603050405020304" pitchFamily="18" charset="0"/>
                <a:ea typeface="Nobile" pitchFamily="34" charset="-122"/>
                <a:cs typeface="Times New Roman" panose="02020603050405020304" pitchFamily="18" charset="0"/>
              </a:rPr>
              <a:t> Kiểm tra tính nhất quán và toàn vẹn của </a:t>
            </a:r>
            <a:r>
              <a:rPr lang="en-US" sz="1600" b="1" dirty="0">
                <a:solidFill>
                  <a:srgbClr val="405449"/>
                </a:solidFill>
                <a:latin typeface="Times New Roman" panose="02020603050405020304" pitchFamily="18" charset="0"/>
                <a:ea typeface="Nobile" pitchFamily="34" charset="-122"/>
                <a:cs typeface="Times New Roman" panose="02020603050405020304" pitchFamily="18" charset="0"/>
              </a:rPr>
              <a:t>dữ liệu</a:t>
            </a:r>
            <a:r>
              <a:rPr lang="en-US" sz="1600" dirty="0">
                <a:solidFill>
                  <a:srgbClr val="405449"/>
                </a:solidFill>
                <a:latin typeface="Times New Roman" panose="02020603050405020304" pitchFamily="18" charset="0"/>
                <a:ea typeface="Nobile" pitchFamily="34" charset="-122"/>
                <a:cs typeface="Times New Roman" panose="02020603050405020304" pitchFamily="18" charset="0"/>
              </a:rPr>
              <a:t> trong cơ sở dữ liệu.</a:t>
            </a:r>
            <a:endParaRPr lang="en-US" sz="1600" dirty="0">
              <a:latin typeface="Times New Roman" panose="02020603050405020304" pitchFamily="18" charset="0"/>
              <a:cs typeface="Times New Roman" panose="02020603050405020304" pitchFamily="18" charset="0"/>
            </a:endParaRPr>
          </a:p>
        </p:txBody>
      </p:sp>
      <p:pic>
        <p:nvPicPr>
          <p:cNvPr id="19" name="Image 2" descr="preencoded.png"/>
          <p:cNvPicPr>
            <a:picLocks noChangeAspect="1"/>
          </p:cNvPicPr>
          <p:nvPr/>
        </p:nvPicPr>
        <p:blipFill>
          <a:blip r:embed="rId5"/>
          <a:stretch>
            <a:fillRect/>
          </a:stretch>
        </p:blipFill>
        <p:spPr>
          <a:xfrm>
            <a:off x="9936123" y="4821317"/>
            <a:ext cx="3851672" cy="263532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43545" y="753428"/>
            <a:ext cx="8119824" cy="663893"/>
          </a:xfrm>
          <a:prstGeom prst="rect">
            <a:avLst/>
          </a:prstGeom>
          <a:noFill/>
          <a:ln/>
        </p:spPr>
        <p:txBody>
          <a:bodyPr wrap="none" lIns="0" tIns="0" rIns="0" bIns="0" rtlCol="0" anchor="t"/>
          <a:lstStyle/>
          <a:p>
            <a:pPr marL="0" indent="0" algn="l">
              <a:lnSpc>
                <a:spcPts val="5200"/>
              </a:lnSpc>
              <a:buNone/>
            </a:pPr>
            <a:r>
              <a:rPr lang="en-US" sz="4150" b="1" dirty="0">
                <a:solidFill>
                  <a:srgbClr val="3B4540"/>
                </a:solidFill>
                <a:latin typeface="Times New Roman" panose="02020603050405020304" pitchFamily="18" charset="0"/>
                <a:ea typeface="Fraunces Extra Bold" pitchFamily="34" charset="-122"/>
                <a:cs typeface="Times New Roman" panose="02020603050405020304" pitchFamily="18" charset="0"/>
              </a:rPr>
              <a:t>Các kỹ thuật thiết kế Test Case</a:t>
            </a:r>
            <a:endParaRPr lang="en-US" sz="4150" dirty="0">
              <a:latin typeface="Times New Roman" panose="02020603050405020304" pitchFamily="18" charset="0"/>
              <a:cs typeface="Times New Roman" panose="02020603050405020304" pitchFamily="18" charset="0"/>
            </a:endParaRPr>
          </a:p>
        </p:txBody>
      </p:sp>
      <p:sp>
        <p:nvSpPr>
          <p:cNvPr id="3" name="Shape 1"/>
          <p:cNvSpPr/>
          <p:nvPr/>
        </p:nvSpPr>
        <p:spPr>
          <a:xfrm>
            <a:off x="743545" y="1842135"/>
            <a:ext cx="6465451" cy="637342"/>
          </a:xfrm>
          <a:prstGeom prst="roundRect">
            <a:avLst>
              <a:gd name="adj" fmla="val 480043"/>
            </a:avLst>
          </a:prstGeom>
          <a:solidFill>
            <a:srgbClr val="E8F3E8"/>
          </a:solidFill>
          <a:ln/>
        </p:spPr>
        <p:txBody>
          <a:bodyPr/>
          <a:lstStyle/>
          <a:p>
            <a:endParaRPr lang="vi-VN" sz="2800">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16906" y="2001441"/>
            <a:ext cx="318611" cy="318611"/>
          </a:xfrm>
          <a:prstGeom prst="rect">
            <a:avLst/>
          </a:prstGeom>
        </p:spPr>
      </p:pic>
      <p:sp>
        <p:nvSpPr>
          <p:cNvPr id="5" name="Text 2"/>
          <p:cNvSpPr/>
          <p:nvPr/>
        </p:nvSpPr>
        <p:spPr>
          <a:xfrm>
            <a:off x="955953" y="2691884"/>
            <a:ext cx="3643908" cy="331946"/>
          </a:xfrm>
          <a:prstGeom prst="rect">
            <a:avLst/>
          </a:prstGeom>
          <a:noFill/>
          <a:ln/>
        </p:spPr>
        <p:txBody>
          <a:bodyPr wrap="none" lIns="0" tIns="0" rIns="0" bIns="0" rtlCol="0" anchor="t"/>
          <a:lstStyle/>
          <a:p>
            <a:pPr marL="0" indent="0" algn="l">
              <a:lnSpc>
                <a:spcPts val="2600"/>
              </a:lnSpc>
              <a:buNone/>
            </a:pPr>
            <a:r>
              <a:rPr lang="en-US" sz="3200" b="1" dirty="0">
                <a:solidFill>
                  <a:srgbClr val="405449"/>
                </a:solidFill>
                <a:latin typeface="Times New Roman" panose="02020603050405020304" pitchFamily="18" charset="0"/>
                <a:ea typeface="Fraunces Extra Bold" pitchFamily="34" charset="-122"/>
                <a:cs typeface="Times New Roman" panose="02020603050405020304" pitchFamily="18" charset="0"/>
              </a:rPr>
              <a:t>Phân tích giá trị biên (BVA)</a:t>
            </a:r>
            <a:endParaRPr lang="en-US" sz="3200" dirty="0">
              <a:latin typeface="Times New Roman" panose="02020603050405020304" pitchFamily="18" charset="0"/>
              <a:cs typeface="Times New Roman" panose="02020603050405020304" pitchFamily="18" charset="0"/>
            </a:endParaRPr>
          </a:p>
        </p:txBody>
      </p:sp>
      <p:sp>
        <p:nvSpPr>
          <p:cNvPr id="6" name="Text 3"/>
          <p:cNvSpPr/>
          <p:nvPr/>
        </p:nvSpPr>
        <p:spPr>
          <a:xfrm>
            <a:off x="955953" y="3151227"/>
            <a:ext cx="6040636" cy="1019413"/>
          </a:xfrm>
          <a:prstGeom prst="rect">
            <a:avLst/>
          </a:prstGeom>
          <a:noFill/>
          <a:ln/>
        </p:spPr>
        <p:txBody>
          <a:bodyPr wrap="square" lIns="0" tIns="0" rIns="0" bIns="0" rtlCol="0" anchor="t"/>
          <a:lstStyle/>
          <a:p>
            <a:pPr marL="0" indent="0" algn="l">
              <a:lnSpc>
                <a:spcPts val="2650"/>
              </a:lnSpc>
              <a:buNone/>
            </a:pP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Kiểm tra các giá trị ở ranh giới hợp lệ và không hợp lệ, ví dụ: số lượng món ăn </a:t>
            </a:r>
            <a:r>
              <a:rPr lang="en-US" sz="2400" b="1" dirty="0">
                <a:solidFill>
                  <a:srgbClr val="405449"/>
                </a:solidFill>
                <a:latin typeface="Times New Roman" panose="02020603050405020304" pitchFamily="18" charset="0"/>
                <a:ea typeface="Nobile" pitchFamily="34" charset="-122"/>
                <a:cs typeface="Times New Roman" panose="02020603050405020304" pitchFamily="18" charset="0"/>
              </a:rPr>
              <a:t>(0, 1, 100, 101)</a:t>
            </a: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 để tìm ra lỗi tại các điểm chuyển tiếp.</a:t>
            </a:r>
            <a:endParaRPr lang="en-US" sz="2400" dirty="0">
              <a:latin typeface="Times New Roman" panose="02020603050405020304" pitchFamily="18" charset="0"/>
              <a:cs typeface="Times New Roman" panose="02020603050405020304" pitchFamily="18" charset="0"/>
            </a:endParaRPr>
          </a:p>
        </p:txBody>
      </p:sp>
      <p:sp>
        <p:nvSpPr>
          <p:cNvPr id="7" name="Shape 4"/>
          <p:cNvSpPr/>
          <p:nvPr/>
        </p:nvSpPr>
        <p:spPr>
          <a:xfrm>
            <a:off x="7421404" y="1842135"/>
            <a:ext cx="6465451" cy="637342"/>
          </a:xfrm>
          <a:prstGeom prst="roundRect">
            <a:avLst>
              <a:gd name="adj" fmla="val 480043"/>
            </a:avLst>
          </a:prstGeom>
          <a:solidFill>
            <a:srgbClr val="E8F3E8"/>
          </a:solidFill>
          <a:ln/>
        </p:spPr>
        <p:txBody>
          <a:bodyPr/>
          <a:lstStyle/>
          <a:p>
            <a:endParaRPr lang="vi-VN" sz="2800">
              <a:latin typeface="Times New Roman" panose="02020603050405020304" pitchFamily="18" charset="0"/>
              <a:cs typeface="Times New Roman" panose="02020603050405020304" pitchFamily="18" charset="0"/>
            </a:endParaRPr>
          </a:p>
        </p:txBody>
      </p:sp>
      <p:pic>
        <p:nvPicPr>
          <p:cNvPr id="8"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494764" y="2001441"/>
            <a:ext cx="318611" cy="318611"/>
          </a:xfrm>
          <a:prstGeom prst="rect">
            <a:avLst/>
          </a:prstGeom>
        </p:spPr>
      </p:pic>
      <p:sp>
        <p:nvSpPr>
          <p:cNvPr id="9" name="Text 5"/>
          <p:cNvSpPr/>
          <p:nvPr/>
        </p:nvSpPr>
        <p:spPr>
          <a:xfrm>
            <a:off x="7633811" y="2691884"/>
            <a:ext cx="3832384" cy="331946"/>
          </a:xfrm>
          <a:prstGeom prst="rect">
            <a:avLst/>
          </a:prstGeom>
          <a:noFill/>
          <a:ln/>
        </p:spPr>
        <p:txBody>
          <a:bodyPr wrap="none" lIns="0" tIns="0" rIns="0" bIns="0" rtlCol="0" anchor="t"/>
          <a:lstStyle/>
          <a:p>
            <a:pPr marL="0" indent="0" algn="l">
              <a:lnSpc>
                <a:spcPts val="2600"/>
              </a:lnSpc>
              <a:buNone/>
            </a:pPr>
            <a:r>
              <a:rPr lang="en-US" sz="3200" b="1" dirty="0">
                <a:solidFill>
                  <a:srgbClr val="405449"/>
                </a:solidFill>
                <a:latin typeface="Times New Roman" panose="02020603050405020304" pitchFamily="18" charset="0"/>
                <a:ea typeface="Fraunces Extra Bold" pitchFamily="34" charset="-122"/>
                <a:cs typeface="Times New Roman" panose="02020603050405020304" pitchFamily="18" charset="0"/>
              </a:rPr>
              <a:t>Phân vùng tương đương (EP)</a:t>
            </a:r>
            <a:endParaRPr lang="en-US" sz="3200" dirty="0">
              <a:latin typeface="Times New Roman" panose="02020603050405020304" pitchFamily="18" charset="0"/>
              <a:cs typeface="Times New Roman" panose="02020603050405020304" pitchFamily="18" charset="0"/>
            </a:endParaRPr>
          </a:p>
        </p:txBody>
      </p:sp>
      <p:sp>
        <p:nvSpPr>
          <p:cNvPr id="10" name="Text 6"/>
          <p:cNvSpPr/>
          <p:nvPr/>
        </p:nvSpPr>
        <p:spPr>
          <a:xfrm>
            <a:off x="7633811" y="3151227"/>
            <a:ext cx="6040636" cy="1359218"/>
          </a:xfrm>
          <a:prstGeom prst="rect">
            <a:avLst/>
          </a:prstGeom>
          <a:noFill/>
          <a:ln/>
        </p:spPr>
        <p:txBody>
          <a:bodyPr wrap="square" lIns="0" tIns="0" rIns="0" bIns="0" rtlCol="0" anchor="t"/>
          <a:lstStyle/>
          <a:p>
            <a:pPr marL="0" indent="0" algn="l">
              <a:lnSpc>
                <a:spcPts val="2650"/>
              </a:lnSpc>
              <a:buNone/>
            </a:pP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Chia dữ liệu đầu vào thành các lớp tương đương, chỉ chọn một đại diện từ mỗi lớp để kiểm thử, đảm bảo hiệu quả mà vẫn bao quát được các trường hợp: ví dụ </a:t>
            </a:r>
            <a:r>
              <a:rPr lang="en-US" sz="2400" b="1" dirty="0">
                <a:solidFill>
                  <a:srgbClr val="405449"/>
                </a:solidFill>
                <a:latin typeface="Times New Roman" panose="02020603050405020304" pitchFamily="18" charset="0"/>
                <a:ea typeface="Nobile" pitchFamily="34" charset="-122"/>
                <a:cs typeface="Times New Roman" panose="02020603050405020304" pitchFamily="18" charset="0"/>
              </a:rPr>
              <a:t>dữ liệu nhập vào</a:t>
            </a: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11" name="Shape 7"/>
          <p:cNvSpPr/>
          <p:nvPr/>
        </p:nvSpPr>
        <p:spPr>
          <a:xfrm>
            <a:off x="743545" y="4935260"/>
            <a:ext cx="6465451" cy="637342"/>
          </a:xfrm>
          <a:prstGeom prst="roundRect">
            <a:avLst>
              <a:gd name="adj" fmla="val 480043"/>
            </a:avLst>
          </a:prstGeom>
          <a:solidFill>
            <a:srgbClr val="E8F3E8"/>
          </a:solidFill>
          <a:ln/>
        </p:spPr>
        <p:txBody>
          <a:bodyPr/>
          <a:lstStyle/>
          <a:p>
            <a:endParaRPr lang="vi-VN" sz="2800">
              <a:latin typeface="Times New Roman" panose="02020603050405020304" pitchFamily="18" charset="0"/>
              <a:cs typeface="Times New Roman" panose="02020603050405020304" pitchFamily="18" charset="0"/>
            </a:endParaRPr>
          </a:p>
        </p:txBody>
      </p:sp>
      <p:pic>
        <p:nvPicPr>
          <p:cNvPr id="12"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16906" y="5094565"/>
            <a:ext cx="318611" cy="318611"/>
          </a:xfrm>
          <a:prstGeom prst="rect">
            <a:avLst/>
          </a:prstGeom>
        </p:spPr>
      </p:pic>
      <p:sp>
        <p:nvSpPr>
          <p:cNvPr id="13" name="Text 8"/>
          <p:cNvSpPr/>
          <p:nvPr/>
        </p:nvSpPr>
        <p:spPr>
          <a:xfrm>
            <a:off x="955953" y="5785009"/>
            <a:ext cx="4421267" cy="331946"/>
          </a:xfrm>
          <a:prstGeom prst="rect">
            <a:avLst/>
          </a:prstGeom>
          <a:noFill/>
          <a:ln/>
        </p:spPr>
        <p:txBody>
          <a:bodyPr wrap="none" lIns="0" tIns="0" rIns="0" bIns="0" rtlCol="0" anchor="t"/>
          <a:lstStyle/>
          <a:p>
            <a:pPr marL="0" indent="0" algn="l">
              <a:lnSpc>
                <a:spcPts val="2600"/>
              </a:lnSpc>
              <a:buNone/>
            </a:pPr>
            <a:r>
              <a:rPr lang="en-US" sz="3200" b="1" dirty="0">
                <a:solidFill>
                  <a:srgbClr val="405449"/>
                </a:solidFill>
                <a:latin typeface="Times New Roman" panose="02020603050405020304" pitchFamily="18" charset="0"/>
                <a:ea typeface="Fraunces Extra Bold" pitchFamily="34" charset="-122"/>
                <a:cs typeface="Times New Roman" panose="02020603050405020304" pitchFamily="18" charset="0"/>
              </a:rPr>
              <a:t>Bảng quyết định (Decision Table)</a:t>
            </a:r>
            <a:endParaRPr lang="en-US" sz="3200" dirty="0">
              <a:latin typeface="Times New Roman" panose="02020603050405020304" pitchFamily="18" charset="0"/>
              <a:cs typeface="Times New Roman" panose="02020603050405020304" pitchFamily="18" charset="0"/>
            </a:endParaRPr>
          </a:p>
        </p:txBody>
      </p:sp>
      <p:sp>
        <p:nvSpPr>
          <p:cNvPr id="14" name="Text 9"/>
          <p:cNvSpPr/>
          <p:nvPr/>
        </p:nvSpPr>
        <p:spPr>
          <a:xfrm>
            <a:off x="955953" y="6244352"/>
            <a:ext cx="6040636" cy="1019413"/>
          </a:xfrm>
          <a:prstGeom prst="rect">
            <a:avLst/>
          </a:prstGeom>
          <a:noFill/>
          <a:ln/>
        </p:spPr>
        <p:txBody>
          <a:bodyPr wrap="square" lIns="0" tIns="0" rIns="0" bIns="0" rtlCol="0" anchor="t"/>
          <a:lstStyle/>
          <a:p>
            <a:pPr marL="0" indent="0" algn="l">
              <a:lnSpc>
                <a:spcPts val="2650"/>
              </a:lnSpc>
              <a:buNone/>
            </a:pP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Áp dụng cho các chức năng có nhiều điều kiện và hành động phức tạp, giúp mô tả rõ ràng các trường hợp kiểm thử, ví dụ: </a:t>
            </a:r>
            <a:r>
              <a:rPr lang="en-US" sz="2400" b="1" dirty="0">
                <a:solidFill>
                  <a:srgbClr val="405449"/>
                </a:solidFill>
                <a:latin typeface="Times New Roman" panose="02020603050405020304" pitchFamily="18" charset="0"/>
                <a:ea typeface="Nobile" pitchFamily="34" charset="-122"/>
                <a:cs typeface="Times New Roman" panose="02020603050405020304" pitchFamily="18" charset="0"/>
              </a:rPr>
              <a:t>luồng đặt hàng</a:t>
            </a: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 với nhiều tùy chọn.</a:t>
            </a:r>
            <a:endParaRPr lang="en-US" sz="2400" dirty="0">
              <a:latin typeface="Times New Roman" panose="02020603050405020304" pitchFamily="18" charset="0"/>
              <a:cs typeface="Times New Roman" panose="02020603050405020304" pitchFamily="18" charset="0"/>
            </a:endParaRPr>
          </a:p>
        </p:txBody>
      </p:sp>
      <p:sp>
        <p:nvSpPr>
          <p:cNvPr id="15" name="Shape 10"/>
          <p:cNvSpPr/>
          <p:nvPr/>
        </p:nvSpPr>
        <p:spPr>
          <a:xfrm>
            <a:off x="7421404" y="4935260"/>
            <a:ext cx="6465451" cy="637342"/>
          </a:xfrm>
          <a:prstGeom prst="roundRect">
            <a:avLst>
              <a:gd name="adj" fmla="val 480043"/>
            </a:avLst>
          </a:prstGeom>
          <a:solidFill>
            <a:srgbClr val="E8F3E8"/>
          </a:solidFill>
          <a:ln/>
        </p:spPr>
        <p:txBody>
          <a:bodyPr/>
          <a:lstStyle/>
          <a:p>
            <a:endParaRPr lang="vi-VN" sz="2800">
              <a:latin typeface="Times New Roman" panose="02020603050405020304" pitchFamily="18" charset="0"/>
              <a:cs typeface="Times New Roman" panose="02020603050405020304" pitchFamily="18" charset="0"/>
            </a:endParaRPr>
          </a:p>
        </p:txBody>
      </p:sp>
      <p:pic>
        <p:nvPicPr>
          <p:cNvPr id="16"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494764" y="5094565"/>
            <a:ext cx="318611" cy="318611"/>
          </a:xfrm>
          <a:prstGeom prst="rect">
            <a:avLst/>
          </a:prstGeom>
        </p:spPr>
      </p:pic>
      <p:sp>
        <p:nvSpPr>
          <p:cNvPr id="17" name="Text 11"/>
          <p:cNvSpPr/>
          <p:nvPr/>
        </p:nvSpPr>
        <p:spPr>
          <a:xfrm>
            <a:off x="7633811" y="5785009"/>
            <a:ext cx="5353526" cy="331946"/>
          </a:xfrm>
          <a:prstGeom prst="rect">
            <a:avLst/>
          </a:prstGeom>
          <a:noFill/>
          <a:ln/>
        </p:spPr>
        <p:txBody>
          <a:bodyPr wrap="none" lIns="0" tIns="0" rIns="0" bIns="0" rtlCol="0" anchor="t"/>
          <a:lstStyle/>
          <a:p>
            <a:pPr marL="0" indent="0" algn="l">
              <a:lnSpc>
                <a:spcPts val="2600"/>
              </a:lnSpc>
              <a:buNone/>
            </a:pPr>
            <a:r>
              <a:rPr lang="en-US" sz="3200" b="1" dirty="0">
                <a:solidFill>
                  <a:srgbClr val="405449"/>
                </a:solidFill>
                <a:latin typeface="Times New Roman" panose="02020603050405020304" pitchFamily="18" charset="0"/>
                <a:ea typeface="Fraunces Extra Bold" pitchFamily="34" charset="-122"/>
                <a:cs typeface="Times New Roman" panose="02020603050405020304" pitchFamily="18" charset="0"/>
              </a:rPr>
              <a:t>Chuyển đổi trạng thái (State Transition)</a:t>
            </a:r>
            <a:endParaRPr lang="en-US" sz="3200" dirty="0">
              <a:latin typeface="Times New Roman" panose="02020603050405020304" pitchFamily="18" charset="0"/>
              <a:cs typeface="Times New Roman" panose="02020603050405020304" pitchFamily="18" charset="0"/>
            </a:endParaRPr>
          </a:p>
        </p:txBody>
      </p:sp>
      <p:sp>
        <p:nvSpPr>
          <p:cNvPr id="18" name="Text 12"/>
          <p:cNvSpPr/>
          <p:nvPr/>
        </p:nvSpPr>
        <p:spPr>
          <a:xfrm>
            <a:off x="7633811" y="6244352"/>
            <a:ext cx="6040636" cy="1019413"/>
          </a:xfrm>
          <a:prstGeom prst="rect">
            <a:avLst/>
          </a:prstGeom>
          <a:noFill/>
          <a:ln/>
        </p:spPr>
        <p:txBody>
          <a:bodyPr wrap="square" lIns="0" tIns="0" rIns="0" bIns="0" rtlCol="0" anchor="t"/>
          <a:lstStyle/>
          <a:p>
            <a:pPr marL="0" indent="0" algn="l">
              <a:lnSpc>
                <a:spcPts val="2650"/>
              </a:lnSpc>
              <a:buNone/>
            </a:pP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Kiểm thử các trạng thái và sự chuyển đổi giữa chúng, đảm bảo hệ thống phản ứng đúng khi có sự kiện xảy ra, ví dụ: </a:t>
            </a:r>
            <a:r>
              <a:rPr lang="en-US" sz="2400" b="1" dirty="0">
                <a:solidFill>
                  <a:srgbClr val="405449"/>
                </a:solidFill>
                <a:latin typeface="Times New Roman" panose="02020603050405020304" pitchFamily="18" charset="0"/>
                <a:ea typeface="Nobile" pitchFamily="34" charset="-122"/>
                <a:cs typeface="Times New Roman" panose="02020603050405020304" pitchFamily="18" charset="0"/>
              </a:rPr>
              <a:t>trạng thái đơn hàng</a:t>
            </a: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 (Pending -&gt; Processing -&gt; Delivered).</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1128" y="354449"/>
            <a:ext cx="6818233" cy="402788"/>
          </a:xfrm>
          <a:prstGeom prst="rect">
            <a:avLst/>
          </a:prstGeom>
          <a:noFill/>
          <a:ln/>
        </p:spPr>
        <p:txBody>
          <a:bodyPr wrap="none" lIns="0" tIns="0" rIns="0" bIns="0" rtlCol="0" anchor="t"/>
          <a:lstStyle/>
          <a:p>
            <a:pPr marL="0" indent="0" algn="l">
              <a:lnSpc>
                <a:spcPts val="3150"/>
              </a:lnSpc>
              <a:buNone/>
            </a:pPr>
            <a:r>
              <a:rPr lang="en-US" sz="2500" b="1" dirty="0">
                <a:solidFill>
                  <a:srgbClr val="3B4540"/>
                </a:solidFill>
                <a:latin typeface="Times New Roman" panose="02020603050405020304" pitchFamily="18" charset="0"/>
                <a:ea typeface="Fraunces Extra Bold" pitchFamily="34" charset="-122"/>
                <a:cs typeface="Times New Roman" panose="02020603050405020304" pitchFamily="18" charset="0"/>
              </a:rPr>
              <a:t>Kịch bản kiểm thử tiêu biểu (Module 1 &amp; 2)</a:t>
            </a:r>
            <a:endParaRPr lang="en-US" sz="2500" dirty="0">
              <a:latin typeface="Times New Roman" panose="02020603050405020304" pitchFamily="18" charset="0"/>
              <a:cs typeface="Times New Roman" panose="02020603050405020304" pitchFamily="18" charset="0"/>
            </a:endParaRPr>
          </a:p>
        </p:txBody>
      </p:sp>
      <p:sp>
        <p:nvSpPr>
          <p:cNvPr id="3" name="Text 1"/>
          <p:cNvSpPr/>
          <p:nvPr/>
        </p:nvSpPr>
        <p:spPr>
          <a:xfrm>
            <a:off x="451128" y="1079421"/>
            <a:ext cx="2927152" cy="241697"/>
          </a:xfrm>
          <a:prstGeom prst="rect">
            <a:avLst/>
          </a:prstGeom>
          <a:noFill/>
          <a:ln/>
        </p:spPr>
        <p:txBody>
          <a:bodyPr wrap="none" lIns="0" tIns="0" rIns="0" bIns="0" rtlCol="0" anchor="t"/>
          <a:lstStyle/>
          <a:p>
            <a:pPr marL="0" indent="0" algn="l">
              <a:lnSpc>
                <a:spcPts val="1900"/>
              </a:lnSpc>
              <a:buNone/>
            </a:pPr>
            <a:r>
              <a:rPr lang="en-US" sz="2000" b="1" dirty="0">
                <a:solidFill>
                  <a:srgbClr val="3B4540"/>
                </a:solidFill>
                <a:latin typeface="Times New Roman" panose="02020603050405020304" pitchFamily="18" charset="0"/>
                <a:ea typeface="Fraunces Extra Bold" pitchFamily="34" charset="-122"/>
                <a:cs typeface="Times New Roman" panose="02020603050405020304" pitchFamily="18" charset="0"/>
              </a:rPr>
              <a:t>Module 1: Đăng ký/Đăng nhập</a:t>
            </a:r>
            <a:endParaRPr lang="en-US" sz="2000" dirty="0">
              <a:latin typeface="Times New Roman" panose="02020603050405020304" pitchFamily="18" charset="0"/>
              <a:cs typeface="Times New Roman" panose="02020603050405020304" pitchFamily="18" charset="0"/>
            </a:endParaRPr>
          </a:p>
        </p:txBody>
      </p:sp>
      <p:sp>
        <p:nvSpPr>
          <p:cNvPr id="4" name="Text 2"/>
          <p:cNvSpPr/>
          <p:nvPr/>
        </p:nvSpPr>
        <p:spPr>
          <a:xfrm>
            <a:off x="451128" y="1449943"/>
            <a:ext cx="6706791" cy="206216"/>
          </a:xfrm>
          <a:prstGeom prst="rect">
            <a:avLst/>
          </a:prstGeom>
          <a:noFill/>
          <a:ln/>
        </p:spPr>
        <p:txBody>
          <a:bodyPr wrap="none" lIns="0" tIns="0" rIns="0" bIns="0" rtlCol="0" anchor="t"/>
          <a:lstStyle/>
          <a:p>
            <a:pPr marL="342900" indent="-342900" algn="l">
              <a:lnSpc>
                <a:spcPts val="1600"/>
              </a:lnSpc>
              <a:buSzPct val="100000"/>
              <a:buChar char="•"/>
            </a:pPr>
            <a:r>
              <a:rPr lang="en-US" sz="1200" b="1" dirty="0">
                <a:solidFill>
                  <a:srgbClr val="405449"/>
                </a:solidFill>
                <a:latin typeface="Times New Roman" panose="02020603050405020304" pitchFamily="18" charset="0"/>
                <a:ea typeface="Nobile" pitchFamily="34" charset="-122"/>
                <a:cs typeface="Times New Roman" panose="02020603050405020304" pitchFamily="18" charset="0"/>
              </a:rPr>
              <a:t>Validation:</a:t>
            </a:r>
            <a:r>
              <a:rPr lang="en-US" sz="1200" dirty="0">
                <a:solidFill>
                  <a:srgbClr val="405449"/>
                </a:solidFill>
                <a:latin typeface="Times New Roman" panose="02020603050405020304" pitchFamily="18" charset="0"/>
                <a:ea typeface="Nobile" pitchFamily="34" charset="-122"/>
                <a:cs typeface="Times New Roman" panose="02020603050405020304" pitchFamily="18" charset="0"/>
              </a:rPr>
              <a:t> Kiểm tra các trường dữ liệu bắt buộc và định dạng hợp lệ (email, mật khẩu).</a:t>
            </a:r>
            <a:endParaRPr lang="en-US" sz="1200" dirty="0">
              <a:latin typeface="Times New Roman" panose="02020603050405020304" pitchFamily="18" charset="0"/>
              <a:cs typeface="Times New Roman" panose="02020603050405020304" pitchFamily="18" charset="0"/>
            </a:endParaRPr>
          </a:p>
        </p:txBody>
      </p:sp>
      <p:sp>
        <p:nvSpPr>
          <p:cNvPr id="5" name="Text 3"/>
          <p:cNvSpPr/>
          <p:nvPr/>
        </p:nvSpPr>
        <p:spPr>
          <a:xfrm>
            <a:off x="451128" y="1701165"/>
            <a:ext cx="6706791" cy="206216"/>
          </a:xfrm>
          <a:prstGeom prst="rect">
            <a:avLst/>
          </a:prstGeom>
          <a:noFill/>
          <a:ln/>
        </p:spPr>
        <p:txBody>
          <a:bodyPr wrap="none" lIns="0" tIns="0" rIns="0" bIns="0" rtlCol="0" anchor="t"/>
          <a:lstStyle/>
          <a:p>
            <a:pPr marL="342900" indent="-342900" algn="l">
              <a:lnSpc>
                <a:spcPts val="1600"/>
              </a:lnSpc>
              <a:buSzPct val="100000"/>
              <a:buChar char="•"/>
            </a:pPr>
            <a:r>
              <a:rPr lang="en-US" sz="1200" b="1" dirty="0">
                <a:solidFill>
                  <a:srgbClr val="405449"/>
                </a:solidFill>
                <a:latin typeface="Times New Roman" panose="02020603050405020304" pitchFamily="18" charset="0"/>
                <a:ea typeface="Nobile" pitchFamily="34" charset="-122"/>
                <a:cs typeface="Times New Roman" panose="02020603050405020304" pitchFamily="18" charset="0"/>
              </a:rPr>
              <a:t>Duplicate Email:</a:t>
            </a:r>
            <a:r>
              <a:rPr lang="en-US" sz="1200" dirty="0">
                <a:solidFill>
                  <a:srgbClr val="405449"/>
                </a:solidFill>
                <a:latin typeface="Times New Roman" panose="02020603050405020304" pitchFamily="18" charset="0"/>
                <a:ea typeface="Nobile" pitchFamily="34" charset="-122"/>
                <a:cs typeface="Times New Roman" panose="02020603050405020304" pitchFamily="18" charset="0"/>
              </a:rPr>
              <a:t> Thử đăng ký với email đã tồn tại để đảm bảo hệ thống hiển thị cảnh báo phù hợp.</a:t>
            </a:r>
            <a:endParaRPr lang="en-US" sz="1200" dirty="0">
              <a:latin typeface="Times New Roman" panose="02020603050405020304" pitchFamily="18" charset="0"/>
              <a:cs typeface="Times New Roman" panose="02020603050405020304" pitchFamily="18" charset="0"/>
            </a:endParaRPr>
          </a:p>
        </p:txBody>
      </p:sp>
      <p:sp>
        <p:nvSpPr>
          <p:cNvPr id="6" name="Text 4"/>
          <p:cNvSpPr/>
          <p:nvPr/>
        </p:nvSpPr>
        <p:spPr>
          <a:xfrm>
            <a:off x="451128" y="1952387"/>
            <a:ext cx="6706791" cy="412433"/>
          </a:xfrm>
          <a:prstGeom prst="rect">
            <a:avLst/>
          </a:prstGeom>
          <a:noFill/>
          <a:ln/>
        </p:spPr>
        <p:txBody>
          <a:bodyPr wrap="square" lIns="0" tIns="0" rIns="0" bIns="0" rtlCol="0" anchor="t"/>
          <a:lstStyle/>
          <a:p>
            <a:pPr marL="342900" indent="-342900" algn="l">
              <a:lnSpc>
                <a:spcPts val="1600"/>
              </a:lnSpc>
              <a:buSzPct val="100000"/>
              <a:buChar char="•"/>
            </a:pPr>
            <a:r>
              <a:rPr lang="en-US" sz="1200" b="1" dirty="0">
                <a:solidFill>
                  <a:srgbClr val="405449"/>
                </a:solidFill>
                <a:latin typeface="Times New Roman" panose="02020603050405020304" pitchFamily="18" charset="0"/>
                <a:ea typeface="Nobile" pitchFamily="34" charset="-122"/>
                <a:cs typeface="Times New Roman" panose="02020603050405020304" pitchFamily="18" charset="0"/>
              </a:rPr>
              <a:t>RBAC (Role-Based Access Control):</a:t>
            </a:r>
            <a:r>
              <a:rPr lang="en-US" sz="1200" dirty="0">
                <a:solidFill>
                  <a:srgbClr val="405449"/>
                </a:solidFill>
                <a:latin typeface="Times New Roman" panose="02020603050405020304" pitchFamily="18" charset="0"/>
                <a:ea typeface="Nobile" pitchFamily="34" charset="-122"/>
                <a:cs typeface="Times New Roman" panose="02020603050405020304" pitchFamily="18" charset="0"/>
              </a:rPr>
              <a:t> Xác minh quyền truy cập của các vai trò khác nhau (người dùng, quản trị viên).</a:t>
            </a:r>
            <a:endParaRPr lang="en-US" sz="1200" dirty="0">
              <a:latin typeface="Times New Roman" panose="02020603050405020304" pitchFamily="18" charset="0"/>
              <a:cs typeface="Times New Roman" panose="02020603050405020304" pitchFamily="18" charset="0"/>
            </a:endParaRPr>
          </a:p>
        </p:txBody>
      </p:sp>
      <p:pic>
        <p:nvPicPr>
          <p:cNvPr id="7" name="Image 0" descr="preencoded.png"/>
          <p:cNvPicPr>
            <a:picLocks noChangeAspect="1"/>
          </p:cNvPicPr>
          <p:nvPr/>
        </p:nvPicPr>
        <p:blipFill>
          <a:blip r:embed="rId3"/>
          <a:stretch>
            <a:fillRect/>
          </a:stretch>
        </p:blipFill>
        <p:spPr>
          <a:xfrm>
            <a:off x="451128" y="2509838"/>
            <a:ext cx="6706791" cy="6706791"/>
          </a:xfrm>
          <a:prstGeom prst="rect">
            <a:avLst/>
          </a:prstGeom>
        </p:spPr>
      </p:pic>
      <p:sp>
        <p:nvSpPr>
          <p:cNvPr id="8" name="Text 5"/>
          <p:cNvSpPr/>
          <p:nvPr/>
        </p:nvSpPr>
        <p:spPr>
          <a:xfrm>
            <a:off x="7480102" y="1079421"/>
            <a:ext cx="3114080" cy="241697"/>
          </a:xfrm>
          <a:prstGeom prst="rect">
            <a:avLst/>
          </a:prstGeom>
          <a:noFill/>
          <a:ln/>
        </p:spPr>
        <p:txBody>
          <a:bodyPr wrap="none" lIns="0" tIns="0" rIns="0" bIns="0" rtlCol="0" anchor="t"/>
          <a:lstStyle/>
          <a:p>
            <a:pPr marL="0" indent="0" algn="l">
              <a:lnSpc>
                <a:spcPts val="1900"/>
              </a:lnSpc>
              <a:buNone/>
            </a:pPr>
            <a:r>
              <a:rPr lang="en-US" sz="2000" b="1" dirty="0">
                <a:solidFill>
                  <a:srgbClr val="3B4540"/>
                </a:solidFill>
                <a:latin typeface="Times New Roman" panose="02020603050405020304" pitchFamily="18" charset="0"/>
                <a:ea typeface="Fraunces Extra Bold" pitchFamily="34" charset="-122"/>
                <a:cs typeface="Times New Roman" panose="02020603050405020304" pitchFamily="18" charset="0"/>
              </a:rPr>
              <a:t>Module 2: Landing Page &amp; Menu</a:t>
            </a:r>
            <a:endParaRPr lang="en-US" sz="2000" dirty="0">
              <a:latin typeface="Times New Roman" panose="02020603050405020304" pitchFamily="18" charset="0"/>
              <a:cs typeface="Times New Roman" panose="02020603050405020304" pitchFamily="18" charset="0"/>
            </a:endParaRPr>
          </a:p>
        </p:txBody>
      </p:sp>
      <p:sp>
        <p:nvSpPr>
          <p:cNvPr id="9" name="Text 6"/>
          <p:cNvSpPr/>
          <p:nvPr/>
        </p:nvSpPr>
        <p:spPr>
          <a:xfrm>
            <a:off x="7480102" y="1449943"/>
            <a:ext cx="6706791" cy="206216"/>
          </a:xfrm>
          <a:prstGeom prst="rect">
            <a:avLst/>
          </a:prstGeom>
          <a:noFill/>
          <a:ln/>
        </p:spPr>
        <p:txBody>
          <a:bodyPr wrap="none" lIns="0" tIns="0" rIns="0" bIns="0" rtlCol="0" anchor="t"/>
          <a:lstStyle/>
          <a:p>
            <a:pPr marL="342900" indent="-342900" algn="l">
              <a:lnSpc>
                <a:spcPts val="1600"/>
              </a:lnSpc>
              <a:buSzPct val="100000"/>
              <a:buChar char="•"/>
            </a:pPr>
            <a:r>
              <a:rPr lang="en-US" sz="1200" b="1" dirty="0">
                <a:solidFill>
                  <a:srgbClr val="405449"/>
                </a:solidFill>
                <a:latin typeface="Times New Roman" panose="02020603050405020304" pitchFamily="18" charset="0"/>
                <a:ea typeface="Nobile" pitchFamily="34" charset="-122"/>
                <a:cs typeface="Times New Roman" panose="02020603050405020304" pitchFamily="18" charset="0"/>
              </a:rPr>
              <a:t>Hiển thị Banner:</a:t>
            </a:r>
            <a:r>
              <a:rPr lang="en-US" sz="1200" dirty="0">
                <a:solidFill>
                  <a:srgbClr val="405449"/>
                </a:solidFill>
                <a:latin typeface="Times New Roman" panose="02020603050405020304" pitchFamily="18" charset="0"/>
                <a:ea typeface="Nobile" pitchFamily="34" charset="-122"/>
                <a:cs typeface="Times New Roman" panose="02020603050405020304" pitchFamily="18" charset="0"/>
              </a:rPr>
              <a:t> Đảm bảo banner quảng cáo được hiển thị đúng vị trí, kích thước và có thể nhấp được.</a:t>
            </a:r>
            <a:endParaRPr lang="en-US" sz="1200" dirty="0">
              <a:latin typeface="Times New Roman" panose="02020603050405020304" pitchFamily="18" charset="0"/>
              <a:cs typeface="Times New Roman" panose="02020603050405020304" pitchFamily="18" charset="0"/>
            </a:endParaRPr>
          </a:p>
        </p:txBody>
      </p:sp>
      <p:sp>
        <p:nvSpPr>
          <p:cNvPr id="10" name="Text 7"/>
          <p:cNvSpPr/>
          <p:nvPr/>
        </p:nvSpPr>
        <p:spPr>
          <a:xfrm>
            <a:off x="7480102" y="1701165"/>
            <a:ext cx="6706791" cy="412433"/>
          </a:xfrm>
          <a:prstGeom prst="rect">
            <a:avLst/>
          </a:prstGeom>
          <a:noFill/>
          <a:ln/>
        </p:spPr>
        <p:txBody>
          <a:bodyPr wrap="square" lIns="0" tIns="0" rIns="0" bIns="0" rtlCol="0" anchor="t"/>
          <a:lstStyle/>
          <a:p>
            <a:pPr marL="342900" indent="-342900" algn="l">
              <a:lnSpc>
                <a:spcPts val="1600"/>
              </a:lnSpc>
              <a:buSzPct val="100000"/>
              <a:buChar char="•"/>
            </a:pPr>
            <a:r>
              <a:rPr lang="en-US" sz="1200" b="1" dirty="0">
                <a:solidFill>
                  <a:srgbClr val="405449"/>
                </a:solidFill>
                <a:latin typeface="Times New Roman" panose="02020603050405020304" pitchFamily="18" charset="0"/>
                <a:ea typeface="Nobile" pitchFamily="34" charset="-122"/>
                <a:cs typeface="Times New Roman" panose="02020603050405020304" pitchFamily="18" charset="0"/>
              </a:rPr>
              <a:t>Đồng bộ dữ liệu món ăn:</a:t>
            </a:r>
            <a:r>
              <a:rPr lang="en-US" sz="1200" dirty="0">
                <a:solidFill>
                  <a:srgbClr val="405449"/>
                </a:solidFill>
                <a:latin typeface="Times New Roman" panose="02020603050405020304" pitchFamily="18" charset="0"/>
                <a:ea typeface="Nobile" pitchFamily="34" charset="-122"/>
                <a:cs typeface="Times New Roman" panose="02020603050405020304" pitchFamily="18" charset="0"/>
              </a:rPr>
              <a:t> Kiểm tra tính chính xác và đầy đủ của thông tin món ăn trên giao diện so với cơ sở dữ liệu.</a:t>
            </a:r>
            <a:endParaRPr lang="en-US" sz="1200" dirty="0">
              <a:latin typeface="Times New Roman" panose="02020603050405020304" pitchFamily="18" charset="0"/>
              <a:cs typeface="Times New Roman" panose="02020603050405020304" pitchFamily="18" charset="0"/>
            </a:endParaRPr>
          </a:p>
        </p:txBody>
      </p:sp>
      <p:sp>
        <p:nvSpPr>
          <p:cNvPr id="11" name="Text 8"/>
          <p:cNvSpPr/>
          <p:nvPr/>
        </p:nvSpPr>
        <p:spPr>
          <a:xfrm>
            <a:off x="7480102" y="2158603"/>
            <a:ext cx="6706791" cy="206216"/>
          </a:xfrm>
          <a:prstGeom prst="rect">
            <a:avLst/>
          </a:prstGeom>
          <a:noFill/>
          <a:ln/>
        </p:spPr>
        <p:txBody>
          <a:bodyPr wrap="none" lIns="0" tIns="0" rIns="0" bIns="0" rtlCol="0" anchor="t"/>
          <a:lstStyle/>
          <a:p>
            <a:pPr marL="342900" indent="-342900" algn="l">
              <a:lnSpc>
                <a:spcPts val="1600"/>
              </a:lnSpc>
              <a:buSzPct val="100000"/>
              <a:buChar char="•"/>
            </a:pPr>
            <a:r>
              <a:rPr lang="en-US" sz="1200" b="1" dirty="0">
                <a:solidFill>
                  <a:srgbClr val="405449"/>
                </a:solidFill>
                <a:latin typeface="Times New Roman" panose="02020603050405020304" pitchFamily="18" charset="0"/>
                <a:ea typeface="Nobile" pitchFamily="34" charset="-122"/>
                <a:cs typeface="Times New Roman" panose="02020603050405020304" pitchFamily="18" charset="0"/>
              </a:rPr>
              <a:t>Tìm kiếm &amp; Lọc:</a:t>
            </a:r>
            <a:r>
              <a:rPr lang="en-US" sz="1200" dirty="0">
                <a:solidFill>
                  <a:srgbClr val="405449"/>
                </a:solidFill>
                <a:latin typeface="Times New Roman" panose="02020603050405020304" pitchFamily="18" charset="0"/>
                <a:ea typeface="Nobile" pitchFamily="34" charset="-122"/>
                <a:cs typeface="Times New Roman" panose="02020603050405020304" pitchFamily="18" charset="0"/>
              </a:rPr>
              <a:t> Thử nghiệm chức năng tìm kiếm và lọc món ăn theo nhiều tiêu chí khác nhau.</a:t>
            </a:r>
            <a:endParaRPr lang="en-US" sz="1200" dirty="0">
              <a:latin typeface="Times New Roman" panose="02020603050405020304" pitchFamily="18" charset="0"/>
              <a:cs typeface="Times New Roman" panose="02020603050405020304" pitchFamily="18" charset="0"/>
            </a:endParaRPr>
          </a:p>
        </p:txBody>
      </p:sp>
      <p:pic>
        <p:nvPicPr>
          <p:cNvPr id="12" name="Image 1" descr="preencoded.png"/>
          <p:cNvPicPr>
            <a:picLocks noChangeAspect="1"/>
          </p:cNvPicPr>
          <p:nvPr/>
        </p:nvPicPr>
        <p:blipFill>
          <a:blip r:embed="rId4"/>
          <a:stretch>
            <a:fillRect/>
          </a:stretch>
        </p:blipFill>
        <p:spPr>
          <a:xfrm>
            <a:off x="7480102" y="2509838"/>
            <a:ext cx="6706791" cy="670679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18386" y="328732"/>
            <a:ext cx="6361033" cy="373499"/>
          </a:xfrm>
          <a:prstGeom prst="rect">
            <a:avLst/>
          </a:prstGeom>
          <a:noFill/>
          <a:ln/>
        </p:spPr>
        <p:txBody>
          <a:bodyPr wrap="none" lIns="0" tIns="0" rIns="0" bIns="0" rtlCol="0" anchor="t"/>
          <a:lstStyle/>
          <a:p>
            <a:pPr marL="0" indent="0" algn="l">
              <a:lnSpc>
                <a:spcPts val="2900"/>
              </a:lnSpc>
              <a:buNone/>
            </a:pPr>
            <a:r>
              <a:rPr lang="en-US" sz="3200" b="1" dirty="0">
                <a:solidFill>
                  <a:srgbClr val="3B4540"/>
                </a:solidFill>
                <a:latin typeface="Times New Roman" panose="02020603050405020304" pitchFamily="18" charset="0"/>
                <a:ea typeface="Fraunces Extra Bold" pitchFamily="34" charset="-122"/>
                <a:cs typeface="Times New Roman" panose="02020603050405020304" pitchFamily="18" charset="0"/>
              </a:rPr>
              <a:t>Kịch bản kiểm thử tiêu biểu (Module 3 &amp; 4)</a:t>
            </a:r>
            <a:endParaRPr lang="en-US" sz="3200" dirty="0">
              <a:latin typeface="Times New Roman" panose="02020603050405020304" pitchFamily="18" charset="0"/>
              <a:cs typeface="Times New Roman" panose="02020603050405020304" pitchFamily="18" charset="0"/>
            </a:endParaRPr>
          </a:p>
        </p:txBody>
      </p:sp>
      <p:sp>
        <p:nvSpPr>
          <p:cNvPr id="3" name="Text 1"/>
          <p:cNvSpPr/>
          <p:nvPr/>
        </p:nvSpPr>
        <p:spPr>
          <a:xfrm>
            <a:off x="418386" y="1001078"/>
            <a:ext cx="2984659" cy="224076"/>
          </a:xfrm>
          <a:prstGeom prst="rect">
            <a:avLst/>
          </a:prstGeom>
          <a:noFill/>
          <a:ln/>
        </p:spPr>
        <p:txBody>
          <a:bodyPr wrap="none" lIns="0" tIns="0" rIns="0" bIns="0" rtlCol="0" anchor="t"/>
          <a:lstStyle/>
          <a:p>
            <a:pPr marL="0" indent="0" algn="l">
              <a:lnSpc>
                <a:spcPts val="1750"/>
              </a:lnSpc>
              <a:buNone/>
            </a:pPr>
            <a:r>
              <a:rPr lang="en-US" sz="2000" b="1" dirty="0">
                <a:solidFill>
                  <a:srgbClr val="3B4540"/>
                </a:solidFill>
                <a:latin typeface="Times New Roman" panose="02020603050405020304" pitchFamily="18" charset="0"/>
                <a:ea typeface="Fraunces Extra Bold" pitchFamily="34" charset="-122"/>
                <a:cs typeface="Times New Roman" panose="02020603050405020304" pitchFamily="18" charset="0"/>
              </a:rPr>
              <a:t>Module 3: Giỏ hàng &amp; Thanh toán</a:t>
            </a:r>
            <a:endParaRPr lang="en-US" sz="2000" dirty="0">
              <a:latin typeface="Times New Roman" panose="02020603050405020304" pitchFamily="18" charset="0"/>
              <a:cs typeface="Times New Roman" panose="02020603050405020304" pitchFamily="18" charset="0"/>
            </a:endParaRPr>
          </a:p>
        </p:txBody>
      </p:sp>
      <p:sp>
        <p:nvSpPr>
          <p:cNvPr id="4" name="Text 2"/>
          <p:cNvSpPr/>
          <p:nvPr/>
        </p:nvSpPr>
        <p:spPr>
          <a:xfrm>
            <a:off x="418386" y="1344692"/>
            <a:ext cx="6751082" cy="191214"/>
          </a:xfrm>
          <a:prstGeom prst="rect">
            <a:avLst/>
          </a:prstGeom>
          <a:noFill/>
          <a:ln/>
        </p:spPr>
        <p:txBody>
          <a:bodyPr wrap="none" lIns="0" tIns="0" rIns="0" bIns="0" rtlCol="0" anchor="t"/>
          <a:lstStyle/>
          <a:p>
            <a:pPr marL="342900" indent="-342900" algn="l">
              <a:lnSpc>
                <a:spcPts val="1500"/>
              </a:lnSpc>
              <a:buSzPct val="100000"/>
              <a:buChar char="•"/>
            </a:pPr>
            <a:r>
              <a:rPr lang="en-US" sz="1100" b="1" dirty="0">
                <a:solidFill>
                  <a:srgbClr val="405449"/>
                </a:solidFill>
                <a:latin typeface="Times New Roman" panose="02020603050405020304" pitchFamily="18" charset="0"/>
                <a:ea typeface="Nobile" pitchFamily="34" charset="-122"/>
                <a:cs typeface="Times New Roman" panose="02020603050405020304" pitchFamily="18" charset="0"/>
              </a:rPr>
              <a:t>Thêm món:</a:t>
            </a:r>
            <a:r>
              <a:rPr lang="en-US" sz="1100" dirty="0">
                <a:solidFill>
                  <a:srgbClr val="405449"/>
                </a:solidFill>
                <a:latin typeface="Times New Roman" panose="02020603050405020304" pitchFamily="18" charset="0"/>
                <a:ea typeface="Nobile" pitchFamily="34" charset="-122"/>
                <a:cs typeface="Times New Roman" panose="02020603050405020304" pitchFamily="18" charset="0"/>
              </a:rPr>
              <a:t> Kiểm tra việc thêm, xóa, cập nhật số lượng món ăn trong giỏ hàng.</a:t>
            </a:r>
            <a:endParaRPr lang="en-US" sz="1100" dirty="0">
              <a:latin typeface="Times New Roman" panose="02020603050405020304" pitchFamily="18" charset="0"/>
              <a:cs typeface="Times New Roman" panose="02020603050405020304" pitchFamily="18" charset="0"/>
            </a:endParaRPr>
          </a:p>
        </p:txBody>
      </p:sp>
      <p:sp>
        <p:nvSpPr>
          <p:cNvPr id="5" name="Text 3"/>
          <p:cNvSpPr/>
          <p:nvPr/>
        </p:nvSpPr>
        <p:spPr>
          <a:xfrm>
            <a:off x="418386" y="1577697"/>
            <a:ext cx="6751082" cy="191214"/>
          </a:xfrm>
          <a:prstGeom prst="rect">
            <a:avLst/>
          </a:prstGeom>
          <a:noFill/>
          <a:ln/>
        </p:spPr>
        <p:txBody>
          <a:bodyPr wrap="none" lIns="0" tIns="0" rIns="0" bIns="0" rtlCol="0" anchor="t"/>
          <a:lstStyle/>
          <a:p>
            <a:pPr marL="342900" indent="-342900" algn="l">
              <a:lnSpc>
                <a:spcPts val="1500"/>
              </a:lnSpc>
              <a:buSzPct val="100000"/>
              <a:buChar char="•"/>
            </a:pPr>
            <a:r>
              <a:rPr lang="en-US" sz="1100" b="1" dirty="0">
                <a:solidFill>
                  <a:srgbClr val="405449"/>
                </a:solidFill>
                <a:latin typeface="Times New Roman" panose="02020603050405020304" pitchFamily="18" charset="0"/>
                <a:ea typeface="Nobile" pitchFamily="34" charset="-122"/>
                <a:cs typeface="Times New Roman" panose="02020603050405020304" pitchFamily="18" charset="0"/>
              </a:rPr>
              <a:t>Tính tổng tiền:</a:t>
            </a:r>
            <a:r>
              <a:rPr lang="en-US" sz="1100" dirty="0">
                <a:solidFill>
                  <a:srgbClr val="405449"/>
                </a:solidFill>
                <a:latin typeface="Times New Roman" panose="02020603050405020304" pitchFamily="18" charset="0"/>
                <a:ea typeface="Nobile" pitchFamily="34" charset="-122"/>
                <a:cs typeface="Times New Roman" panose="02020603050405020304" pitchFamily="18" charset="0"/>
              </a:rPr>
              <a:t> Xác minh tính toán tổng tiền chính xác, bao gồm cả phí vận chuyển và mã giảm giá (nếu có).</a:t>
            </a:r>
            <a:endParaRPr lang="en-US" sz="1100" dirty="0">
              <a:latin typeface="Times New Roman" panose="02020603050405020304" pitchFamily="18" charset="0"/>
              <a:cs typeface="Times New Roman" panose="02020603050405020304" pitchFamily="18" charset="0"/>
            </a:endParaRPr>
          </a:p>
        </p:txBody>
      </p:sp>
      <p:sp>
        <p:nvSpPr>
          <p:cNvPr id="6" name="Text 4"/>
          <p:cNvSpPr/>
          <p:nvPr/>
        </p:nvSpPr>
        <p:spPr>
          <a:xfrm>
            <a:off x="418386" y="1810703"/>
            <a:ext cx="6751082" cy="191214"/>
          </a:xfrm>
          <a:prstGeom prst="rect">
            <a:avLst/>
          </a:prstGeom>
          <a:noFill/>
          <a:ln/>
        </p:spPr>
        <p:txBody>
          <a:bodyPr wrap="none" lIns="0" tIns="0" rIns="0" bIns="0" rtlCol="0" anchor="t"/>
          <a:lstStyle/>
          <a:p>
            <a:pPr marL="342900" indent="-342900" algn="l">
              <a:lnSpc>
                <a:spcPts val="1500"/>
              </a:lnSpc>
              <a:buSzPct val="100000"/>
              <a:buChar char="•"/>
            </a:pPr>
            <a:r>
              <a:rPr lang="en-US" sz="1100" b="1" dirty="0">
                <a:solidFill>
                  <a:srgbClr val="405449"/>
                </a:solidFill>
                <a:latin typeface="Times New Roman" panose="02020603050405020304" pitchFamily="18" charset="0"/>
                <a:ea typeface="Nobile" pitchFamily="34" charset="-122"/>
                <a:cs typeface="Times New Roman" panose="02020603050405020304" pitchFamily="18" charset="0"/>
              </a:rPr>
              <a:t>Logic số lượng:</a:t>
            </a:r>
            <a:r>
              <a:rPr lang="en-US" sz="1100" dirty="0">
                <a:solidFill>
                  <a:srgbClr val="405449"/>
                </a:solidFill>
                <a:latin typeface="Times New Roman" panose="02020603050405020304" pitchFamily="18" charset="0"/>
                <a:ea typeface="Nobile" pitchFamily="34" charset="-122"/>
                <a:cs typeface="Times New Roman" panose="02020603050405020304" pitchFamily="18" charset="0"/>
              </a:rPr>
              <a:t> Đảm bảo không thể thêm số lượng âm hoặc quá giới hạn tồn kho.</a:t>
            </a:r>
            <a:endParaRPr lang="en-US" sz="1100" dirty="0">
              <a:latin typeface="Times New Roman" panose="02020603050405020304" pitchFamily="18" charset="0"/>
              <a:cs typeface="Times New Roman" panose="02020603050405020304" pitchFamily="18" charset="0"/>
            </a:endParaRPr>
          </a:p>
        </p:txBody>
      </p:sp>
      <p:sp>
        <p:nvSpPr>
          <p:cNvPr id="7" name="Text 5"/>
          <p:cNvSpPr/>
          <p:nvPr/>
        </p:nvSpPr>
        <p:spPr>
          <a:xfrm>
            <a:off x="418386" y="2043708"/>
            <a:ext cx="6751082" cy="191214"/>
          </a:xfrm>
          <a:prstGeom prst="rect">
            <a:avLst/>
          </a:prstGeom>
          <a:noFill/>
          <a:ln/>
        </p:spPr>
        <p:txBody>
          <a:bodyPr wrap="none" lIns="0" tIns="0" rIns="0" bIns="0" rtlCol="0" anchor="t"/>
          <a:lstStyle/>
          <a:p>
            <a:pPr marL="342900" indent="-342900" algn="l">
              <a:lnSpc>
                <a:spcPts val="1500"/>
              </a:lnSpc>
              <a:buSzPct val="100000"/>
              <a:buChar char="•"/>
            </a:pPr>
            <a:r>
              <a:rPr lang="en-US" sz="1100" b="1" dirty="0">
                <a:solidFill>
                  <a:srgbClr val="405449"/>
                </a:solidFill>
                <a:latin typeface="Times New Roman" panose="02020603050405020304" pitchFamily="18" charset="0"/>
                <a:ea typeface="Nobile" pitchFamily="34" charset="-122"/>
                <a:cs typeface="Times New Roman" panose="02020603050405020304" pitchFamily="18" charset="0"/>
              </a:rPr>
              <a:t>Quá trình thanh toán:</a:t>
            </a:r>
            <a:r>
              <a:rPr lang="en-US" sz="1100" dirty="0">
                <a:solidFill>
                  <a:srgbClr val="405449"/>
                </a:solidFill>
                <a:latin typeface="Times New Roman" panose="02020603050405020304" pitchFamily="18" charset="0"/>
                <a:ea typeface="Nobile" pitchFamily="34" charset="-122"/>
                <a:cs typeface="Times New Roman" panose="02020603050405020304" pitchFamily="18" charset="0"/>
              </a:rPr>
              <a:t> Kiểm tra các bước thanh toán qua nhiều phương thức khác nhau.</a:t>
            </a:r>
            <a:endParaRPr lang="en-US" sz="1100" dirty="0">
              <a:latin typeface="Times New Roman" panose="02020603050405020304" pitchFamily="18" charset="0"/>
              <a:cs typeface="Times New Roman" panose="02020603050405020304" pitchFamily="18" charset="0"/>
            </a:endParaRPr>
          </a:p>
        </p:txBody>
      </p:sp>
      <p:pic>
        <p:nvPicPr>
          <p:cNvPr id="8" name="Image 0" descr="preencoded.png"/>
          <p:cNvPicPr>
            <a:picLocks noChangeAspect="1"/>
          </p:cNvPicPr>
          <p:nvPr/>
        </p:nvPicPr>
        <p:blipFill>
          <a:blip r:embed="rId3"/>
          <a:stretch>
            <a:fillRect/>
          </a:stretch>
        </p:blipFill>
        <p:spPr>
          <a:xfrm>
            <a:off x="418386" y="2369344"/>
            <a:ext cx="6751082" cy="6751082"/>
          </a:xfrm>
          <a:prstGeom prst="rect">
            <a:avLst/>
          </a:prstGeom>
        </p:spPr>
      </p:pic>
      <p:sp>
        <p:nvSpPr>
          <p:cNvPr id="9" name="Text 6"/>
          <p:cNvSpPr/>
          <p:nvPr/>
        </p:nvSpPr>
        <p:spPr>
          <a:xfrm>
            <a:off x="7468553" y="1001078"/>
            <a:ext cx="2274213" cy="224076"/>
          </a:xfrm>
          <a:prstGeom prst="rect">
            <a:avLst/>
          </a:prstGeom>
          <a:noFill/>
          <a:ln/>
        </p:spPr>
        <p:txBody>
          <a:bodyPr wrap="none" lIns="0" tIns="0" rIns="0" bIns="0" rtlCol="0" anchor="t"/>
          <a:lstStyle/>
          <a:p>
            <a:pPr marL="0" indent="0" algn="l">
              <a:lnSpc>
                <a:spcPts val="1750"/>
              </a:lnSpc>
              <a:buNone/>
            </a:pPr>
            <a:r>
              <a:rPr lang="en-US" sz="2000" b="1" dirty="0">
                <a:solidFill>
                  <a:srgbClr val="3B4540"/>
                </a:solidFill>
                <a:latin typeface="Times New Roman" panose="02020603050405020304" pitchFamily="18" charset="0"/>
                <a:ea typeface="Fraunces Extra Bold" pitchFamily="34" charset="-122"/>
                <a:cs typeface="Times New Roman" panose="02020603050405020304" pitchFamily="18" charset="0"/>
              </a:rPr>
              <a:t>Module 4: Quản lý Admin</a:t>
            </a:r>
            <a:endParaRPr lang="en-US" sz="2000" dirty="0">
              <a:latin typeface="Times New Roman" panose="02020603050405020304" pitchFamily="18" charset="0"/>
              <a:cs typeface="Times New Roman" panose="02020603050405020304" pitchFamily="18" charset="0"/>
            </a:endParaRPr>
          </a:p>
        </p:txBody>
      </p:sp>
      <p:sp>
        <p:nvSpPr>
          <p:cNvPr id="10" name="Text 7"/>
          <p:cNvSpPr/>
          <p:nvPr/>
        </p:nvSpPr>
        <p:spPr>
          <a:xfrm>
            <a:off x="7468553" y="1344692"/>
            <a:ext cx="6751082" cy="382429"/>
          </a:xfrm>
          <a:prstGeom prst="rect">
            <a:avLst/>
          </a:prstGeom>
          <a:noFill/>
          <a:ln/>
        </p:spPr>
        <p:txBody>
          <a:bodyPr wrap="square" lIns="0" tIns="0" rIns="0" bIns="0" rtlCol="0" anchor="t"/>
          <a:lstStyle/>
          <a:p>
            <a:pPr marL="342900" indent="-342900" algn="l">
              <a:lnSpc>
                <a:spcPts val="1500"/>
              </a:lnSpc>
              <a:buSzPct val="100000"/>
              <a:buChar char="•"/>
            </a:pPr>
            <a:r>
              <a:rPr lang="en-US" sz="1100" b="1" dirty="0">
                <a:solidFill>
                  <a:srgbClr val="405449"/>
                </a:solidFill>
                <a:latin typeface="Times New Roman" panose="02020603050405020304" pitchFamily="18" charset="0"/>
                <a:ea typeface="Nobile" pitchFamily="34" charset="-122"/>
                <a:cs typeface="Times New Roman" panose="02020603050405020304" pitchFamily="18" charset="0"/>
              </a:rPr>
              <a:t>Thêm/Sửa món ăn:</a:t>
            </a:r>
            <a:r>
              <a:rPr lang="en-US" sz="1100" dirty="0">
                <a:solidFill>
                  <a:srgbClr val="405449"/>
                </a:solidFill>
                <a:latin typeface="Times New Roman" panose="02020603050405020304" pitchFamily="18" charset="0"/>
                <a:ea typeface="Nobile" pitchFamily="34" charset="-122"/>
                <a:cs typeface="Times New Roman" panose="02020603050405020304" pitchFamily="18" charset="0"/>
              </a:rPr>
              <a:t> Đảm bảo quản trị viên có thể thêm món mới, chỉnh sửa thông tin món và cập nhật trạng thái.</a:t>
            </a:r>
            <a:endParaRPr lang="en-US" sz="1100" dirty="0">
              <a:latin typeface="Times New Roman" panose="02020603050405020304" pitchFamily="18" charset="0"/>
              <a:cs typeface="Times New Roman" panose="02020603050405020304" pitchFamily="18" charset="0"/>
            </a:endParaRPr>
          </a:p>
        </p:txBody>
      </p:sp>
      <p:sp>
        <p:nvSpPr>
          <p:cNvPr id="11" name="Text 8"/>
          <p:cNvSpPr/>
          <p:nvPr/>
        </p:nvSpPr>
        <p:spPr>
          <a:xfrm>
            <a:off x="7468553" y="1768912"/>
            <a:ext cx="6751082" cy="382429"/>
          </a:xfrm>
          <a:prstGeom prst="rect">
            <a:avLst/>
          </a:prstGeom>
          <a:noFill/>
          <a:ln/>
        </p:spPr>
        <p:txBody>
          <a:bodyPr wrap="square" lIns="0" tIns="0" rIns="0" bIns="0" rtlCol="0" anchor="t"/>
          <a:lstStyle/>
          <a:p>
            <a:pPr marL="342900" indent="-342900" algn="l">
              <a:lnSpc>
                <a:spcPts val="1500"/>
              </a:lnSpc>
              <a:buSzPct val="100000"/>
              <a:buChar char="•"/>
            </a:pPr>
            <a:r>
              <a:rPr lang="en-US" sz="1100" b="1" dirty="0">
                <a:solidFill>
                  <a:srgbClr val="405449"/>
                </a:solidFill>
                <a:latin typeface="Times New Roman" panose="02020603050405020304" pitchFamily="18" charset="0"/>
                <a:ea typeface="Nobile" pitchFamily="34" charset="-122"/>
                <a:cs typeface="Times New Roman" panose="02020603050405020304" pitchFamily="18" charset="0"/>
              </a:rPr>
              <a:t>Kiểm tra tính nhất quán dữ liệu:</a:t>
            </a:r>
            <a:r>
              <a:rPr lang="en-US" sz="1100" dirty="0">
                <a:solidFill>
                  <a:srgbClr val="405449"/>
                </a:solidFill>
                <a:latin typeface="Times New Roman" panose="02020603050405020304" pitchFamily="18" charset="0"/>
                <a:ea typeface="Nobile" pitchFamily="34" charset="-122"/>
                <a:cs typeface="Times New Roman" panose="02020603050405020304" pitchFamily="18" charset="0"/>
              </a:rPr>
              <a:t> Xác minh rằng mọi thay đổi từ phía Admin được hiển thị chính xác và đồng bộ trên giao diện người dùng.</a:t>
            </a:r>
            <a:endParaRPr lang="en-US" sz="1100" dirty="0">
              <a:latin typeface="Times New Roman" panose="02020603050405020304" pitchFamily="18" charset="0"/>
              <a:cs typeface="Times New Roman" panose="02020603050405020304" pitchFamily="18" charset="0"/>
            </a:endParaRPr>
          </a:p>
        </p:txBody>
      </p:sp>
      <p:sp>
        <p:nvSpPr>
          <p:cNvPr id="12" name="Text 9"/>
          <p:cNvSpPr/>
          <p:nvPr/>
        </p:nvSpPr>
        <p:spPr>
          <a:xfrm>
            <a:off x="7468553" y="2193131"/>
            <a:ext cx="6751082" cy="191214"/>
          </a:xfrm>
          <a:prstGeom prst="rect">
            <a:avLst/>
          </a:prstGeom>
          <a:noFill/>
          <a:ln/>
        </p:spPr>
        <p:txBody>
          <a:bodyPr wrap="none" lIns="0" tIns="0" rIns="0" bIns="0" rtlCol="0" anchor="t"/>
          <a:lstStyle/>
          <a:p>
            <a:pPr marL="342900" indent="-342900" algn="l">
              <a:lnSpc>
                <a:spcPts val="1500"/>
              </a:lnSpc>
              <a:buSzPct val="100000"/>
              <a:buChar char="•"/>
            </a:pPr>
            <a:r>
              <a:rPr lang="en-US" sz="1100" b="1" dirty="0">
                <a:solidFill>
                  <a:srgbClr val="405449"/>
                </a:solidFill>
                <a:latin typeface="Times New Roman" panose="02020603050405020304" pitchFamily="18" charset="0"/>
                <a:ea typeface="Nobile" pitchFamily="34" charset="-122"/>
                <a:cs typeface="Times New Roman" panose="02020603050405020304" pitchFamily="18" charset="0"/>
              </a:rPr>
              <a:t>Quản lý đơn hàng:</a:t>
            </a:r>
            <a:r>
              <a:rPr lang="en-US" sz="1100" dirty="0">
                <a:solidFill>
                  <a:srgbClr val="405449"/>
                </a:solidFill>
                <a:latin typeface="Times New Roman" panose="02020603050405020304" pitchFamily="18" charset="0"/>
                <a:ea typeface="Nobile" pitchFamily="34" charset="-122"/>
                <a:cs typeface="Times New Roman" panose="02020603050405020304" pitchFamily="18" charset="0"/>
              </a:rPr>
              <a:t> Kiểm tra khả năng xem, cập nhật trạng thái đơn hàng và xử lý các yêu cầu từ khách hàng.</a:t>
            </a:r>
            <a:endParaRPr lang="en-US" sz="1100" dirty="0">
              <a:latin typeface="Times New Roman" panose="02020603050405020304" pitchFamily="18" charset="0"/>
              <a:cs typeface="Times New Roman" panose="02020603050405020304" pitchFamily="18" charset="0"/>
            </a:endParaRPr>
          </a:p>
        </p:txBody>
      </p:sp>
      <p:pic>
        <p:nvPicPr>
          <p:cNvPr id="13" name="Image 1" descr="preencoded.png"/>
          <p:cNvPicPr>
            <a:picLocks noChangeAspect="1"/>
          </p:cNvPicPr>
          <p:nvPr/>
        </p:nvPicPr>
        <p:blipFill>
          <a:blip r:embed="rId4"/>
          <a:stretch>
            <a:fillRect/>
          </a:stretch>
        </p:blipFill>
        <p:spPr>
          <a:xfrm>
            <a:off x="7468553" y="2518767"/>
            <a:ext cx="6751082" cy="675108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65453" y="774383"/>
            <a:ext cx="10074473" cy="683538"/>
          </a:xfrm>
          <a:prstGeom prst="rect">
            <a:avLst/>
          </a:prstGeom>
          <a:noFill/>
          <a:ln/>
        </p:spPr>
        <p:txBody>
          <a:bodyPr wrap="none" lIns="0" tIns="0" rIns="0" bIns="0" rtlCol="0" anchor="t"/>
          <a:lstStyle/>
          <a:p>
            <a:pPr marL="0" indent="0" algn="l">
              <a:lnSpc>
                <a:spcPts val="5350"/>
              </a:lnSpc>
              <a:buNone/>
            </a:pPr>
            <a:r>
              <a:rPr lang="en-US" sz="5400" b="1" dirty="0">
                <a:solidFill>
                  <a:srgbClr val="3B4540"/>
                </a:solidFill>
                <a:latin typeface="Times New Roman" panose="02020603050405020304" pitchFamily="18" charset="0"/>
                <a:ea typeface="Fraunces Extra Bold" pitchFamily="34" charset="-122"/>
                <a:cs typeface="Times New Roman" panose="02020603050405020304" pitchFamily="18" charset="0"/>
              </a:rPr>
              <a:t>Kết quả thực thi kiểm thử &amp; Tổng kết</a:t>
            </a:r>
            <a:endParaRPr lang="en-US" sz="5400" dirty="0">
              <a:latin typeface="Times New Roman" panose="02020603050405020304" pitchFamily="18" charset="0"/>
              <a:cs typeface="Times New Roman" panose="02020603050405020304" pitchFamily="18" charset="0"/>
            </a:endParaRPr>
          </a:p>
        </p:txBody>
      </p:sp>
      <p:sp>
        <p:nvSpPr>
          <p:cNvPr id="3" name="Text 1"/>
          <p:cNvSpPr/>
          <p:nvPr/>
        </p:nvSpPr>
        <p:spPr>
          <a:xfrm>
            <a:off x="765453" y="1895356"/>
            <a:ext cx="13099494" cy="349925"/>
          </a:xfrm>
          <a:prstGeom prst="rect">
            <a:avLst/>
          </a:prstGeom>
          <a:noFill/>
          <a:ln/>
        </p:spPr>
        <p:txBody>
          <a:bodyPr wrap="none" lIns="0" tIns="0" rIns="0" bIns="0" rtlCol="0" anchor="t"/>
          <a:lstStyle/>
          <a:p>
            <a:pPr marL="0" indent="0" algn="l">
              <a:lnSpc>
                <a:spcPts val="2750"/>
              </a:lnSpc>
              <a:buNone/>
            </a:pP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Sau quá trình thực thi kiểm thử nghiêm ngặt, dưới đây là báo cáo tổng hợp kết quả:</a:t>
            </a:r>
            <a:endParaRPr lang="en-US" sz="2400" dirty="0">
              <a:latin typeface="Times New Roman" panose="02020603050405020304" pitchFamily="18" charset="0"/>
              <a:cs typeface="Times New Roman" panose="02020603050405020304" pitchFamily="18" charset="0"/>
            </a:endParaRPr>
          </a:p>
        </p:txBody>
      </p:sp>
      <p:sp>
        <p:nvSpPr>
          <p:cNvPr id="4" name="Shape 2"/>
          <p:cNvSpPr/>
          <p:nvPr/>
        </p:nvSpPr>
        <p:spPr>
          <a:xfrm>
            <a:off x="765453" y="2491264"/>
            <a:ext cx="13099494" cy="2525554"/>
          </a:xfrm>
          <a:prstGeom prst="roundRect">
            <a:avLst>
              <a:gd name="adj" fmla="val 7794"/>
            </a:avLst>
          </a:prstGeom>
          <a:noFill/>
          <a:ln w="7620">
            <a:solidFill>
              <a:srgbClr val="000000">
                <a:alpha val="8000"/>
              </a:srgbClr>
            </a:solidFill>
            <a:prstDash val="solid"/>
          </a:ln>
        </p:spPr>
        <p:txBody>
          <a:bodyPr/>
          <a:lstStyle/>
          <a:p>
            <a:endParaRPr lang="vi-VN" sz="2800">
              <a:latin typeface="Times New Roman" panose="02020603050405020304" pitchFamily="18" charset="0"/>
              <a:cs typeface="Times New Roman" panose="02020603050405020304" pitchFamily="18" charset="0"/>
            </a:endParaRPr>
          </a:p>
        </p:txBody>
      </p:sp>
      <p:sp>
        <p:nvSpPr>
          <p:cNvPr id="5" name="Shape 3"/>
          <p:cNvSpPr/>
          <p:nvPr/>
        </p:nvSpPr>
        <p:spPr>
          <a:xfrm>
            <a:off x="773073" y="2498884"/>
            <a:ext cx="13084254" cy="627578"/>
          </a:xfrm>
          <a:prstGeom prst="rect">
            <a:avLst/>
          </a:prstGeom>
          <a:solidFill>
            <a:srgbClr val="FFFFFF">
              <a:alpha val="4000"/>
            </a:srgbClr>
          </a:solidFill>
          <a:ln/>
        </p:spPr>
        <p:txBody>
          <a:bodyPr/>
          <a:lstStyle/>
          <a:p>
            <a:endParaRPr lang="vi-VN" sz="2800">
              <a:latin typeface="Times New Roman" panose="02020603050405020304" pitchFamily="18" charset="0"/>
              <a:cs typeface="Times New Roman" panose="02020603050405020304" pitchFamily="18" charset="0"/>
            </a:endParaRPr>
          </a:p>
        </p:txBody>
      </p:sp>
      <p:sp>
        <p:nvSpPr>
          <p:cNvPr id="6" name="Text 4"/>
          <p:cNvSpPr/>
          <p:nvPr/>
        </p:nvSpPr>
        <p:spPr>
          <a:xfrm>
            <a:off x="992029" y="2637711"/>
            <a:ext cx="3484007" cy="349925"/>
          </a:xfrm>
          <a:prstGeom prst="rect">
            <a:avLst/>
          </a:prstGeom>
          <a:noFill/>
          <a:ln/>
        </p:spPr>
        <p:txBody>
          <a:bodyPr wrap="none" lIns="0" tIns="0" rIns="0" bIns="0" rtlCol="0" anchor="t"/>
          <a:lstStyle/>
          <a:p>
            <a:pPr marL="0" indent="0" algn="l">
              <a:lnSpc>
                <a:spcPts val="2750"/>
              </a:lnSpc>
              <a:buNone/>
            </a:pP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Module 1 (Tài khoản)</a:t>
            </a:r>
            <a:endParaRPr lang="en-US" sz="2400" dirty="0">
              <a:latin typeface="Times New Roman" panose="02020603050405020304" pitchFamily="18" charset="0"/>
              <a:cs typeface="Times New Roman" panose="02020603050405020304" pitchFamily="18" charset="0"/>
            </a:endParaRPr>
          </a:p>
        </p:txBody>
      </p:sp>
      <p:sp>
        <p:nvSpPr>
          <p:cNvPr id="7" name="Text 5"/>
          <p:cNvSpPr/>
          <p:nvPr/>
        </p:nvSpPr>
        <p:spPr>
          <a:xfrm>
            <a:off x="4921091" y="2637711"/>
            <a:ext cx="2825948" cy="349925"/>
          </a:xfrm>
          <a:prstGeom prst="rect">
            <a:avLst/>
          </a:prstGeom>
          <a:noFill/>
          <a:ln/>
        </p:spPr>
        <p:txBody>
          <a:bodyPr wrap="none" lIns="0" tIns="0" rIns="0" bIns="0" rtlCol="0" anchor="t"/>
          <a:lstStyle/>
          <a:p>
            <a:pPr marL="0" indent="0" algn="l">
              <a:lnSpc>
                <a:spcPts val="2750"/>
              </a:lnSpc>
              <a:buNone/>
            </a:pP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7</a:t>
            </a:r>
            <a:endParaRPr lang="en-US" sz="2400" dirty="0">
              <a:latin typeface="Times New Roman" panose="02020603050405020304" pitchFamily="18" charset="0"/>
              <a:cs typeface="Times New Roman" panose="02020603050405020304" pitchFamily="18" charset="0"/>
            </a:endParaRPr>
          </a:p>
        </p:txBody>
      </p:sp>
      <p:sp>
        <p:nvSpPr>
          <p:cNvPr id="8" name="Text 6"/>
          <p:cNvSpPr/>
          <p:nvPr/>
        </p:nvSpPr>
        <p:spPr>
          <a:xfrm>
            <a:off x="8192095" y="2637711"/>
            <a:ext cx="2825948" cy="349925"/>
          </a:xfrm>
          <a:prstGeom prst="rect">
            <a:avLst/>
          </a:prstGeom>
          <a:noFill/>
          <a:ln/>
        </p:spPr>
        <p:txBody>
          <a:bodyPr wrap="none" lIns="0" tIns="0" rIns="0" bIns="0" rtlCol="0" anchor="t"/>
          <a:lstStyle/>
          <a:p>
            <a:pPr marL="0" indent="0" algn="l">
              <a:lnSpc>
                <a:spcPts val="2750"/>
              </a:lnSpc>
              <a:buNone/>
            </a:pP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0</a:t>
            </a:r>
            <a:endParaRPr lang="en-US" sz="2400" dirty="0">
              <a:latin typeface="Times New Roman" panose="02020603050405020304" pitchFamily="18" charset="0"/>
              <a:cs typeface="Times New Roman" panose="02020603050405020304" pitchFamily="18" charset="0"/>
            </a:endParaRPr>
          </a:p>
        </p:txBody>
      </p:sp>
      <p:sp>
        <p:nvSpPr>
          <p:cNvPr id="9" name="Text 7"/>
          <p:cNvSpPr/>
          <p:nvPr/>
        </p:nvSpPr>
        <p:spPr>
          <a:xfrm>
            <a:off x="11463099" y="2637711"/>
            <a:ext cx="2175510" cy="349925"/>
          </a:xfrm>
          <a:prstGeom prst="rect">
            <a:avLst/>
          </a:prstGeom>
          <a:noFill/>
          <a:ln/>
        </p:spPr>
        <p:txBody>
          <a:bodyPr wrap="none" lIns="0" tIns="0" rIns="0" bIns="0" rtlCol="0" anchor="t"/>
          <a:lstStyle/>
          <a:p>
            <a:pPr marL="0" indent="0" algn="l">
              <a:lnSpc>
                <a:spcPts val="2750"/>
              </a:lnSpc>
              <a:buNone/>
            </a:pP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100%</a:t>
            </a:r>
            <a:endParaRPr lang="en-US" sz="2400" dirty="0">
              <a:latin typeface="Times New Roman" panose="02020603050405020304" pitchFamily="18" charset="0"/>
              <a:cs typeface="Times New Roman" panose="02020603050405020304" pitchFamily="18" charset="0"/>
            </a:endParaRPr>
          </a:p>
        </p:txBody>
      </p:sp>
      <p:sp>
        <p:nvSpPr>
          <p:cNvPr id="10" name="Shape 8"/>
          <p:cNvSpPr/>
          <p:nvPr/>
        </p:nvSpPr>
        <p:spPr>
          <a:xfrm>
            <a:off x="773073" y="3126462"/>
            <a:ext cx="13084254" cy="627578"/>
          </a:xfrm>
          <a:prstGeom prst="rect">
            <a:avLst/>
          </a:prstGeom>
          <a:solidFill>
            <a:srgbClr val="000000">
              <a:alpha val="4000"/>
            </a:srgbClr>
          </a:solidFill>
          <a:ln/>
        </p:spPr>
        <p:txBody>
          <a:bodyPr/>
          <a:lstStyle/>
          <a:p>
            <a:endParaRPr lang="vi-VN" sz="2800">
              <a:latin typeface="Times New Roman" panose="02020603050405020304" pitchFamily="18" charset="0"/>
              <a:cs typeface="Times New Roman" panose="02020603050405020304" pitchFamily="18" charset="0"/>
            </a:endParaRPr>
          </a:p>
        </p:txBody>
      </p:sp>
      <p:sp>
        <p:nvSpPr>
          <p:cNvPr id="11" name="Text 9"/>
          <p:cNvSpPr/>
          <p:nvPr/>
        </p:nvSpPr>
        <p:spPr>
          <a:xfrm>
            <a:off x="992029" y="3265289"/>
            <a:ext cx="3484007" cy="349925"/>
          </a:xfrm>
          <a:prstGeom prst="rect">
            <a:avLst/>
          </a:prstGeom>
          <a:noFill/>
          <a:ln/>
        </p:spPr>
        <p:txBody>
          <a:bodyPr wrap="none" lIns="0" tIns="0" rIns="0" bIns="0" rtlCol="0" anchor="t"/>
          <a:lstStyle/>
          <a:p>
            <a:pPr marL="0" indent="0" algn="l">
              <a:lnSpc>
                <a:spcPts val="2750"/>
              </a:lnSpc>
              <a:buNone/>
            </a:pP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Module 2 (Giao diện)</a:t>
            </a:r>
            <a:endParaRPr lang="en-US" sz="2400" dirty="0">
              <a:latin typeface="Times New Roman" panose="02020603050405020304" pitchFamily="18" charset="0"/>
              <a:cs typeface="Times New Roman" panose="02020603050405020304" pitchFamily="18" charset="0"/>
            </a:endParaRPr>
          </a:p>
        </p:txBody>
      </p:sp>
      <p:sp>
        <p:nvSpPr>
          <p:cNvPr id="12" name="Text 10"/>
          <p:cNvSpPr/>
          <p:nvPr/>
        </p:nvSpPr>
        <p:spPr>
          <a:xfrm>
            <a:off x="4921091" y="3265289"/>
            <a:ext cx="2825948" cy="349925"/>
          </a:xfrm>
          <a:prstGeom prst="rect">
            <a:avLst/>
          </a:prstGeom>
          <a:noFill/>
          <a:ln/>
        </p:spPr>
        <p:txBody>
          <a:bodyPr wrap="none" lIns="0" tIns="0" rIns="0" bIns="0" rtlCol="0" anchor="t"/>
          <a:lstStyle/>
          <a:p>
            <a:pPr marL="0" indent="0" algn="l">
              <a:lnSpc>
                <a:spcPts val="2750"/>
              </a:lnSpc>
              <a:buNone/>
            </a:pP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3</a:t>
            </a:r>
            <a:endParaRPr lang="en-US" sz="2400" dirty="0">
              <a:latin typeface="Times New Roman" panose="02020603050405020304" pitchFamily="18" charset="0"/>
              <a:cs typeface="Times New Roman" panose="02020603050405020304" pitchFamily="18" charset="0"/>
            </a:endParaRPr>
          </a:p>
        </p:txBody>
      </p:sp>
      <p:sp>
        <p:nvSpPr>
          <p:cNvPr id="13" name="Text 11"/>
          <p:cNvSpPr/>
          <p:nvPr/>
        </p:nvSpPr>
        <p:spPr>
          <a:xfrm>
            <a:off x="8192095" y="3265289"/>
            <a:ext cx="2825948" cy="349925"/>
          </a:xfrm>
          <a:prstGeom prst="rect">
            <a:avLst/>
          </a:prstGeom>
          <a:noFill/>
          <a:ln/>
        </p:spPr>
        <p:txBody>
          <a:bodyPr wrap="none" lIns="0" tIns="0" rIns="0" bIns="0" rtlCol="0" anchor="t"/>
          <a:lstStyle/>
          <a:p>
            <a:pPr marL="0" indent="0" algn="l">
              <a:lnSpc>
                <a:spcPts val="2750"/>
              </a:lnSpc>
              <a:buNone/>
            </a:pP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0</a:t>
            </a:r>
            <a:endParaRPr lang="en-US" sz="2400" dirty="0">
              <a:latin typeface="Times New Roman" panose="02020603050405020304" pitchFamily="18" charset="0"/>
              <a:cs typeface="Times New Roman" panose="02020603050405020304" pitchFamily="18" charset="0"/>
            </a:endParaRPr>
          </a:p>
        </p:txBody>
      </p:sp>
      <p:sp>
        <p:nvSpPr>
          <p:cNvPr id="14" name="Text 12"/>
          <p:cNvSpPr/>
          <p:nvPr/>
        </p:nvSpPr>
        <p:spPr>
          <a:xfrm>
            <a:off x="11463099" y="3265289"/>
            <a:ext cx="2175510" cy="349925"/>
          </a:xfrm>
          <a:prstGeom prst="rect">
            <a:avLst/>
          </a:prstGeom>
          <a:noFill/>
          <a:ln/>
        </p:spPr>
        <p:txBody>
          <a:bodyPr wrap="none" lIns="0" tIns="0" rIns="0" bIns="0" rtlCol="0" anchor="t"/>
          <a:lstStyle/>
          <a:p>
            <a:pPr marL="0" indent="0" algn="l">
              <a:lnSpc>
                <a:spcPts val="2750"/>
              </a:lnSpc>
              <a:buNone/>
            </a:pP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100%</a:t>
            </a:r>
            <a:endParaRPr lang="en-US" sz="2400" dirty="0">
              <a:latin typeface="Times New Roman" panose="02020603050405020304" pitchFamily="18" charset="0"/>
              <a:cs typeface="Times New Roman" panose="02020603050405020304" pitchFamily="18" charset="0"/>
            </a:endParaRPr>
          </a:p>
        </p:txBody>
      </p:sp>
      <p:sp>
        <p:nvSpPr>
          <p:cNvPr id="15" name="Shape 13"/>
          <p:cNvSpPr/>
          <p:nvPr/>
        </p:nvSpPr>
        <p:spPr>
          <a:xfrm>
            <a:off x="773073" y="3754041"/>
            <a:ext cx="13084254" cy="627578"/>
          </a:xfrm>
          <a:prstGeom prst="rect">
            <a:avLst/>
          </a:prstGeom>
          <a:solidFill>
            <a:srgbClr val="FFFFFF">
              <a:alpha val="4000"/>
            </a:srgbClr>
          </a:solidFill>
          <a:ln/>
        </p:spPr>
        <p:txBody>
          <a:bodyPr/>
          <a:lstStyle/>
          <a:p>
            <a:endParaRPr lang="vi-VN" sz="2800">
              <a:latin typeface="Times New Roman" panose="02020603050405020304" pitchFamily="18" charset="0"/>
              <a:cs typeface="Times New Roman" panose="02020603050405020304" pitchFamily="18" charset="0"/>
            </a:endParaRPr>
          </a:p>
        </p:txBody>
      </p:sp>
      <p:sp>
        <p:nvSpPr>
          <p:cNvPr id="16" name="Text 14"/>
          <p:cNvSpPr/>
          <p:nvPr/>
        </p:nvSpPr>
        <p:spPr>
          <a:xfrm>
            <a:off x="992029" y="3892868"/>
            <a:ext cx="3484007" cy="349925"/>
          </a:xfrm>
          <a:prstGeom prst="rect">
            <a:avLst/>
          </a:prstGeom>
          <a:noFill/>
          <a:ln/>
        </p:spPr>
        <p:txBody>
          <a:bodyPr wrap="none" lIns="0" tIns="0" rIns="0" bIns="0" rtlCol="0" anchor="t"/>
          <a:lstStyle/>
          <a:p>
            <a:pPr marL="0" indent="0" algn="l">
              <a:lnSpc>
                <a:spcPts val="2750"/>
              </a:lnSpc>
              <a:buNone/>
            </a:pP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Module 3 (Giỏ hàng/Thanh toán)</a:t>
            </a:r>
            <a:endParaRPr lang="en-US" sz="2400" dirty="0">
              <a:latin typeface="Times New Roman" panose="02020603050405020304" pitchFamily="18" charset="0"/>
              <a:cs typeface="Times New Roman" panose="02020603050405020304" pitchFamily="18" charset="0"/>
            </a:endParaRPr>
          </a:p>
        </p:txBody>
      </p:sp>
      <p:sp>
        <p:nvSpPr>
          <p:cNvPr id="17" name="Text 15"/>
          <p:cNvSpPr/>
          <p:nvPr/>
        </p:nvSpPr>
        <p:spPr>
          <a:xfrm>
            <a:off x="4921091" y="3892868"/>
            <a:ext cx="2825948" cy="349925"/>
          </a:xfrm>
          <a:prstGeom prst="rect">
            <a:avLst/>
          </a:prstGeom>
          <a:noFill/>
          <a:ln/>
        </p:spPr>
        <p:txBody>
          <a:bodyPr wrap="none" lIns="0" tIns="0" rIns="0" bIns="0" rtlCol="0" anchor="t"/>
          <a:lstStyle/>
          <a:p>
            <a:pPr marL="0" indent="0" algn="l">
              <a:lnSpc>
                <a:spcPts val="2750"/>
              </a:lnSpc>
              <a:buNone/>
            </a:pP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14</a:t>
            </a:r>
            <a:endParaRPr lang="en-US" sz="2400" dirty="0">
              <a:latin typeface="Times New Roman" panose="02020603050405020304" pitchFamily="18" charset="0"/>
              <a:cs typeface="Times New Roman" panose="02020603050405020304" pitchFamily="18" charset="0"/>
            </a:endParaRPr>
          </a:p>
        </p:txBody>
      </p:sp>
      <p:sp>
        <p:nvSpPr>
          <p:cNvPr id="18" name="Text 16"/>
          <p:cNvSpPr/>
          <p:nvPr/>
        </p:nvSpPr>
        <p:spPr>
          <a:xfrm>
            <a:off x="8192095" y="3892868"/>
            <a:ext cx="2825948" cy="349925"/>
          </a:xfrm>
          <a:prstGeom prst="rect">
            <a:avLst/>
          </a:prstGeom>
          <a:noFill/>
          <a:ln/>
        </p:spPr>
        <p:txBody>
          <a:bodyPr wrap="none" lIns="0" tIns="0" rIns="0" bIns="0" rtlCol="0" anchor="t"/>
          <a:lstStyle/>
          <a:p>
            <a:pPr marL="0" indent="0" algn="l">
              <a:lnSpc>
                <a:spcPts val="2750"/>
              </a:lnSpc>
              <a:buNone/>
            </a:pP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0</a:t>
            </a:r>
            <a:endParaRPr lang="en-US" sz="2400" dirty="0">
              <a:latin typeface="Times New Roman" panose="02020603050405020304" pitchFamily="18" charset="0"/>
              <a:cs typeface="Times New Roman" panose="02020603050405020304" pitchFamily="18" charset="0"/>
            </a:endParaRPr>
          </a:p>
        </p:txBody>
      </p:sp>
      <p:sp>
        <p:nvSpPr>
          <p:cNvPr id="19" name="Text 17"/>
          <p:cNvSpPr/>
          <p:nvPr/>
        </p:nvSpPr>
        <p:spPr>
          <a:xfrm>
            <a:off x="11463099" y="3892868"/>
            <a:ext cx="2175510" cy="349925"/>
          </a:xfrm>
          <a:prstGeom prst="rect">
            <a:avLst/>
          </a:prstGeom>
          <a:noFill/>
          <a:ln/>
        </p:spPr>
        <p:txBody>
          <a:bodyPr wrap="none" lIns="0" tIns="0" rIns="0" bIns="0" rtlCol="0" anchor="t"/>
          <a:lstStyle/>
          <a:p>
            <a:pPr marL="0" indent="0" algn="l">
              <a:lnSpc>
                <a:spcPts val="2750"/>
              </a:lnSpc>
              <a:buNone/>
            </a:pP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100%</a:t>
            </a:r>
            <a:endParaRPr lang="en-US" sz="2400" dirty="0">
              <a:latin typeface="Times New Roman" panose="02020603050405020304" pitchFamily="18" charset="0"/>
              <a:cs typeface="Times New Roman" panose="02020603050405020304" pitchFamily="18" charset="0"/>
            </a:endParaRPr>
          </a:p>
        </p:txBody>
      </p:sp>
      <p:sp>
        <p:nvSpPr>
          <p:cNvPr id="20" name="Shape 18"/>
          <p:cNvSpPr/>
          <p:nvPr/>
        </p:nvSpPr>
        <p:spPr>
          <a:xfrm>
            <a:off x="773073" y="4381619"/>
            <a:ext cx="13084254" cy="627578"/>
          </a:xfrm>
          <a:prstGeom prst="rect">
            <a:avLst/>
          </a:prstGeom>
          <a:solidFill>
            <a:srgbClr val="000000">
              <a:alpha val="4000"/>
            </a:srgbClr>
          </a:solidFill>
          <a:ln/>
        </p:spPr>
        <p:txBody>
          <a:bodyPr/>
          <a:lstStyle/>
          <a:p>
            <a:endParaRPr lang="vi-VN" sz="2800">
              <a:latin typeface="Times New Roman" panose="02020603050405020304" pitchFamily="18" charset="0"/>
              <a:cs typeface="Times New Roman" panose="02020603050405020304" pitchFamily="18" charset="0"/>
            </a:endParaRPr>
          </a:p>
        </p:txBody>
      </p:sp>
      <p:sp>
        <p:nvSpPr>
          <p:cNvPr id="21" name="Text 19"/>
          <p:cNvSpPr/>
          <p:nvPr/>
        </p:nvSpPr>
        <p:spPr>
          <a:xfrm>
            <a:off x="992029" y="4520446"/>
            <a:ext cx="3484007" cy="349925"/>
          </a:xfrm>
          <a:prstGeom prst="rect">
            <a:avLst/>
          </a:prstGeom>
          <a:noFill/>
          <a:ln/>
        </p:spPr>
        <p:txBody>
          <a:bodyPr wrap="none" lIns="0" tIns="0" rIns="0" bIns="0" rtlCol="0" anchor="t"/>
          <a:lstStyle/>
          <a:p>
            <a:pPr marL="0" indent="0" algn="l">
              <a:lnSpc>
                <a:spcPts val="2750"/>
              </a:lnSpc>
              <a:buNone/>
            </a:pP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Module 4 (Quản trị)</a:t>
            </a:r>
            <a:endParaRPr lang="en-US" sz="2400" dirty="0">
              <a:latin typeface="Times New Roman" panose="02020603050405020304" pitchFamily="18" charset="0"/>
              <a:cs typeface="Times New Roman" panose="02020603050405020304" pitchFamily="18" charset="0"/>
            </a:endParaRPr>
          </a:p>
        </p:txBody>
      </p:sp>
      <p:sp>
        <p:nvSpPr>
          <p:cNvPr id="22" name="Text 20"/>
          <p:cNvSpPr/>
          <p:nvPr/>
        </p:nvSpPr>
        <p:spPr>
          <a:xfrm>
            <a:off x="4921091" y="4520446"/>
            <a:ext cx="2825948" cy="349925"/>
          </a:xfrm>
          <a:prstGeom prst="rect">
            <a:avLst/>
          </a:prstGeom>
          <a:noFill/>
          <a:ln/>
        </p:spPr>
        <p:txBody>
          <a:bodyPr wrap="none" lIns="0" tIns="0" rIns="0" bIns="0" rtlCol="0" anchor="t"/>
          <a:lstStyle/>
          <a:p>
            <a:pPr marL="0" indent="0" algn="l">
              <a:lnSpc>
                <a:spcPts val="2750"/>
              </a:lnSpc>
              <a:buNone/>
            </a:pP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3</a:t>
            </a:r>
            <a:endParaRPr lang="en-US" sz="2400" dirty="0">
              <a:latin typeface="Times New Roman" panose="02020603050405020304" pitchFamily="18" charset="0"/>
              <a:cs typeface="Times New Roman" panose="02020603050405020304" pitchFamily="18" charset="0"/>
            </a:endParaRPr>
          </a:p>
        </p:txBody>
      </p:sp>
      <p:sp>
        <p:nvSpPr>
          <p:cNvPr id="23" name="Text 21"/>
          <p:cNvSpPr/>
          <p:nvPr/>
        </p:nvSpPr>
        <p:spPr>
          <a:xfrm>
            <a:off x="8192095" y="4520446"/>
            <a:ext cx="2825948" cy="349925"/>
          </a:xfrm>
          <a:prstGeom prst="rect">
            <a:avLst/>
          </a:prstGeom>
          <a:noFill/>
          <a:ln/>
        </p:spPr>
        <p:txBody>
          <a:bodyPr wrap="none" lIns="0" tIns="0" rIns="0" bIns="0" rtlCol="0" anchor="t"/>
          <a:lstStyle/>
          <a:p>
            <a:pPr marL="0" indent="0" algn="l">
              <a:lnSpc>
                <a:spcPts val="2750"/>
              </a:lnSpc>
              <a:buNone/>
            </a:pP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0</a:t>
            </a:r>
            <a:endParaRPr lang="en-US" sz="2400" dirty="0">
              <a:latin typeface="Times New Roman" panose="02020603050405020304" pitchFamily="18" charset="0"/>
              <a:cs typeface="Times New Roman" panose="02020603050405020304" pitchFamily="18" charset="0"/>
            </a:endParaRPr>
          </a:p>
        </p:txBody>
      </p:sp>
      <p:sp>
        <p:nvSpPr>
          <p:cNvPr id="24" name="Text 22"/>
          <p:cNvSpPr/>
          <p:nvPr/>
        </p:nvSpPr>
        <p:spPr>
          <a:xfrm>
            <a:off x="11463099" y="4520446"/>
            <a:ext cx="2175510" cy="349925"/>
          </a:xfrm>
          <a:prstGeom prst="rect">
            <a:avLst/>
          </a:prstGeom>
          <a:noFill/>
          <a:ln/>
        </p:spPr>
        <p:txBody>
          <a:bodyPr wrap="none" lIns="0" tIns="0" rIns="0" bIns="0" rtlCol="0" anchor="t"/>
          <a:lstStyle/>
          <a:p>
            <a:pPr marL="0" indent="0" algn="l">
              <a:lnSpc>
                <a:spcPts val="2750"/>
              </a:lnSpc>
              <a:buNone/>
            </a:pP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100%</a:t>
            </a:r>
            <a:endParaRPr lang="en-US" sz="2400" dirty="0">
              <a:latin typeface="Times New Roman" panose="02020603050405020304" pitchFamily="18" charset="0"/>
              <a:cs typeface="Times New Roman" panose="02020603050405020304" pitchFamily="18" charset="0"/>
            </a:endParaRPr>
          </a:p>
        </p:txBody>
      </p:sp>
      <p:sp>
        <p:nvSpPr>
          <p:cNvPr id="25" name="Text 23"/>
          <p:cNvSpPr/>
          <p:nvPr/>
        </p:nvSpPr>
        <p:spPr>
          <a:xfrm>
            <a:off x="765453" y="5344835"/>
            <a:ext cx="3280886" cy="410170"/>
          </a:xfrm>
          <a:prstGeom prst="rect">
            <a:avLst/>
          </a:prstGeom>
          <a:noFill/>
          <a:ln/>
        </p:spPr>
        <p:txBody>
          <a:bodyPr wrap="none" lIns="0" tIns="0" rIns="0" bIns="0" rtlCol="0" anchor="t"/>
          <a:lstStyle/>
          <a:p>
            <a:pPr marL="0" indent="0" algn="l">
              <a:lnSpc>
                <a:spcPts val="3200"/>
              </a:lnSpc>
              <a:buNone/>
            </a:pPr>
            <a:r>
              <a:rPr lang="en-US" sz="3600" b="1" dirty="0">
                <a:solidFill>
                  <a:srgbClr val="3B4540"/>
                </a:solidFill>
                <a:latin typeface="Times New Roman" panose="02020603050405020304" pitchFamily="18" charset="0"/>
                <a:ea typeface="Fraunces Extra Bold" pitchFamily="34" charset="-122"/>
                <a:cs typeface="Times New Roman" panose="02020603050405020304" pitchFamily="18" charset="0"/>
              </a:rPr>
              <a:t>Tổng kết chung</a:t>
            </a:r>
            <a:endParaRPr lang="en-US" sz="3600" dirty="0">
              <a:latin typeface="Times New Roman" panose="02020603050405020304" pitchFamily="18" charset="0"/>
              <a:cs typeface="Times New Roman" panose="02020603050405020304" pitchFamily="18" charset="0"/>
            </a:endParaRPr>
          </a:p>
        </p:txBody>
      </p:sp>
      <p:sp>
        <p:nvSpPr>
          <p:cNvPr id="26" name="Text 24"/>
          <p:cNvSpPr/>
          <p:nvPr/>
        </p:nvSpPr>
        <p:spPr>
          <a:xfrm>
            <a:off x="765453" y="6083022"/>
            <a:ext cx="13099494" cy="349925"/>
          </a:xfrm>
          <a:prstGeom prst="rect">
            <a:avLst/>
          </a:prstGeom>
          <a:noFill/>
          <a:ln/>
        </p:spPr>
        <p:txBody>
          <a:bodyPr wrap="none" lIns="0" tIns="0" rIns="0" bIns="0" rtlCol="0" anchor="t"/>
          <a:lstStyle/>
          <a:p>
            <a:pPr marL="0" indent="0" algn="l">
              <a:lnSpc>
                <a:spcPts val="2750"/>
              </a:lnSpc>
              <a:buNone/>
            </a:pP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Tổng cộng </a:t>
            </a:r>
            <a:r>
              <a:rPr lang="en-US" sz="2400" b="1" dirty="0">
                <a:solidFill>
                  <a:srgbClr val="405449"/>
                </a:solidFill>
                <a:latin typeface="Times New Roman" panose="02020603050405020304" pitchFamily="18" charset="0"/>
                <a:ea typeface="Nobile" pitchFamily="34" charset="-122"/>
                <a:cs typeface="Times New Roman" panose="02020603050405020304" pitchFamily="18" charset="0"/>
              </a:rPr>
              <a:t>27/27 Test Case</a:t>
            </a: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 đã được thực thi và đều </a:t>
            </a:r>
            <a:r>
              <a:rPr lang="en-US" sz="2400" b="1" dirty="0">
                <a:solidFill>
                  <a:srgbClr val="405449"/>
                </a:solidFill>
                <a:latin typeface="Times New Roman" panose="02020603050405020304" pitchFamily="18" charset="0"/>
                <a:ea typeface="Nobile" pitchFamily="34" charset="-122"/>
                <a:cs typeface="Times New Roman" panose="02020603050405020304" pitchFamily="18" charset="0"/>
              </a:rPr>
              <a:t>Pass</a:t>
            </a: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 đạt </a:t>
            </a:r>
            <a:r>
              <a:rPr lang="en-US" sz="2400" b="1" dirty="0">
                <a:solidFill>
                  <a:srgbClr val="405449"/>
                </a:solidFill>
                <a:latin typeface="Times New Roman" panose="02020603050405020304" pitchFamily="18" charset="0"/>
                <a:ea typeface="Nobile" pitchFamily="34" charset="-122"/>
                <a:cs typeface="Times New Roman" panose="02020603050405020304" pitchFamily="18" charset="0"/>
              </a:rPr>
              <a:t>tỷ lệ thành công 100%</a:t>
            </a: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27" name="Text 25"/>
          <p:cNvSpPr/>
          <p:nvPr/>
        </p:nvSpPr>
        <p:spPr>
          <a:xfrm>
            <a:off x="765453" y="6678930"/>
            <a:ext cx="13099494" cy="349925"/>
          </a:xfrm>
          <a:prstGeom prst="rect">
            <a:avLst/>
          </a:prstGeom>
          <a:noFill/>
          <a:ln/>
        </p:spPr>
        <p:txBody>
          <a:bodyPr wrap="none" lIns="0" tIns="0" rIns="0" bIns="0" rtlCol="0" anchor="t"/>
          <a:lstStyle/>
          <a:p>
            <a:pPr marL="342900" indent="-342900" algn="l">
              <a:lnSpc>
                <a:spcPts val="2750"/>
              </a:lnSpc>
              <a:buSzPct val="100000"/>
              <a:buChar char="•"/>
            </a:pPr>
            <a:r>
              <a:rPr lang="en-US" sz="2400" b="1" dirty="0">
                <a:solidFill>
                  <a:srgbClr val="405449"/>
                </a:solidFill>
                <a:latin typeface="Times New Roman" panose="02020603050405020304" pitchFamily="18" charset="0"/>
                <a:ea typeface="Nobile" pitchFamily="34" charset="-122"/>
                <a:cs typeface="Times New Roman" panose="02020603050405020304" pitchFamily="18" charset="0"/>
              </a:rPr>
              <a:t>Độ bao phủ kiểm thử:</a:t>
            </a: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 Đạt 100% trên các chức năng chính yếu.</a:t>
            </a:r>
            <a:endParaRPr lang="en-US" sz="2400" dirty="0">
              <a:latin typeface="Times New Roman" panose="02020603050405020304" pitchFamily="18" charset="0"/>
              <a:cs typeface="Times New Roman" panose="02020603050405020304" pitchFamily="18" charset="0"/>
            </a:endParaRPr>
          </a:p>
        </p:txBody>
      </p:sp>
      <p:sp>
        <p:nvSpPr>
          <p:cNvPr id="28" name="Text 26"/>
          <p:cNvSpPr/>
          <p:nvPr/>
        </p:nvSpPr>
        <p:spPr>
          <a:xfrm>
            <a:off x="765453" y="7105293"/>
            <a:ext cx="13099494" cy="349925"/>
          </a:xfrm>
          <a:prstGeom prst="rect">
            <a:avLst/>
          </a:prstGeom>
          <a:noFill/>
          <a:ln/>
        </p:spPr>
        <p:txBody>
          <a:bodyPr wrap="none" lIns="0" tIns="0" rIns="0" bIns="0" rtlCol="0" anchor="t"/>
          <a:lstStyle/>
          <a:p>
            <a:pPr marL="342900" indent="-342900" algn="l">
              <a:lnSpc>
                <a:spcPts val="2750"/>
              </a:lnSpc>
              <a:buSzPct val="100000"/>
              <a:buChar char="•"/>
            </a:pPr>
            <a:r>
              <a:rPr lang="en-US" sz="2400" b="1" dirty="0">
                <a:solidFill>
                  <a:srgbClr val="405449"/>
                </a:solidFill>
                <a:latin typeface="Times New Roman" panose="02020603050405020304" pitchFamily="18" charset="0"/>
                <a:ea typeface="Nobile" pitchFamily="34" charset="-122"/>
                <a:cs typeface="Times New Roman" panose="02020603050405020304" pitchFamily="18" charset="0"/>
              </a:rPr>
              <a:t>Tỷ lệ thành công:</a:t>
            </a:r>
            <a:r>
              <a:rPr lang="en-US" sz="2400" dirty="0">
                <a:solidFill>
                  <a:srgbClr val="405449"/>
                </a:solidFill>
                <a:latin typeface="Times New Roman" panose="02020603050405020304" pitchFamily="18" charset="0"/>
                <a:ea typeface="Nobile" pitchFamily="34" charset="-122"/>
                <a:cs typeface="Times New Roman" panose="02020603050405020304" pitchFamily="18" charset="0"/>
              </a:rPr>
              <a:t> 100% Pass Rate, cho thấy hệ thống hoạt động ổn định và đáp ứng tốt các yêu cầu đề ra.</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1374</Words>
  <Application>Microsoft Office PowerPoint</Application>
  <PresentationFormat>Custom</PresentationFormat>
  <Paragraphs>115</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Trần Văn Minh Tiến</cp:lastModifiedBy>
  <cp:revision>3</cp:revision>
  <dcterms:created xsi:type="dcterms:W3CDTF">2025-12-19T07:11:34Z</dcterms:created>
  <dcterms:modified xsi:type="dcterms:W3CDTF">2025-12-19T07:20:26Z</dcterms:modified>
</cp:coreProperties>
</file>