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Merriweather Sans Bold" charset="1" panose="00000800000000000000"/>
      <p:regular r:id="rId42"/>
    </p:embeddedFont>
    <p:embeddedFont>
      <p:font typeface="Noto Serif Display" charset="1" panose="02020502080505020204"/>
      <p:regular r:id="rId43"/>
    </p:embeddedFont>
    <p:embeddedFont>
      <p:font typeface="Sigmar One" charset="1" panose="00000500000000000000"/>
      <p:regular r:id="rId44"/>
    </p:embeddedFont>
    <p:embeddedFont>
      <p:font typeface="Montserrat Bold" charset="1" panose="00000800000000000000"/>
      <p:regular r:id="rId45"/>
    </p:embeddedFont>
    <p:embeddedFont>
      <p:font typeface="Crimson Pro Bold" charset="1" panose="00000000000000000000"/>
      <p:regular r:id="rId46"/>
    </p:embeddedFont>
    <p:embeddedFont>
      <p:font typeface="Crimson Pro" charset="1" panose="00000000000000000000"/>
      <p:regular r:id="rId47"/>
    </p:embeddedFont>
    <p:embeddedFont>
      <p:font typeface="Montserrat" charset="1" panose="00000500000000000000"/>
      <p:regular r:id="rId48"/>
    </p:embeddedFont>
    <p:embeddedFont>
      <p:font typeface="Noto Serif Display Bold" charset="1" panose="02020802080505020204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859354">
            <a:off x="-9169117" y="54871"/>
            <a:ext cx="24012227" cy="12006113"/>
          </a:xfrm>
          <a:custGeom>
            <a:avLst/>
            <a:gdLst/>
            <a:ahLst/>
            <a:cxnLst/>
            <a:rect r="r" b="b" t="t" l="l"/>
            <a:pathLst>
              <a:path h="12006113" w="24012227">
                <a:moveTo>
                  <a:pt x="0" y="0"/>
                </a:moveTo>
                <a:lnTo>
                  <a:pt x="24012226" y="0"/>
                </a:lnTo>
                <a:lnTo>
                  <a:pt x="24012226" y="12006114"/>
                </a:lnTo>
                <a:lnTo>
                  <a:pt x="0" y="12006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65836" y="1028700"/>
            <a:ext cx="14498649" cy="7274191"/>
            <a:chOff x="0" y="0"/>
            <a:chExt cx="3818574" cy="1915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8574" cy="1915836"/>
            </a:xfrm>
            <a:custGeom>
              <a:avLst/>
              <a:gdLst/>
              <a:ahLst/>
              <a:cxnLst/>
              <a:rect r="r" b="b" t="t" l="l"/>
              <a:pathLst>
                <a:path h="1915836" w="3818574">
                  <a:moveTo>
                    <a:pt x="33106" y="0"/>
                  </a:moveTo>
                  <a:lnTo>
                    <a:pt x="3785468" y="0"/>
                  </a:lnTo>
                  <a:cubicBezTo>
                    <a:pt x="3803752" y="0"/>
                    <a:pt x="3818574" y="14822"/>
                    <a:pt x="3818574" y="33106"/>
                  </a:cubicBezTo>
                  <a:lnTo>
                    <a:pt x="3818574" y="1882730"/>
                  </a:lnTo>
                  <a:cubicBezTo>
                    <a:pt x="3818574" y="1891510"/>
                    <a:pt x="3815086" y="1899931"/>
                    <a:pt x="3808878" y="1906140"/>
                  </a:cubicBezTo>
                  <a:cubicBezTo>
                    <a:pt x="3802669" y="1912348"/>
                    <a:pt x="3794248" y="1915836"/>
                    <a:pt x="3785468" y="1915836"/>
                  </a:cubicBezTo>
                  <a:lnTo>
                    <a:pt x="33106" y="1915836"/>
                  </a:lnTo>
                  <a:cubicBezTo>
                    <a:pt x="14822" y="1915836"/>
                    <a:pt x="0" y="1901014"/>
                    <a:pt x="0" y="1882730"/>
                  </a:cubicBezTo>
                  <a:lnTo>
                    <a:pt x="0" y="33106"/>
                  </a:lnTo>
                  <a:cubicBezTo>
                    <a:pt x="0" y="14822"/>
                    <a:pt x="14822" y="0"/>
                    <a:pt x="331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8574" cy="195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3214496" y="2420313"/>
            <a:ext cx="256590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3460183" y="6509404"/>
            <a:ext cx="311489" cy="3114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36880" y="6509404"/>
            <a:ext cx="311489" cy="31148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18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10294" y="6509713"/>
            <a:ext cx="311489" cy="31148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569774" y="1217899"/>
            <a:ext cx="5962276" cy="6895794"/>
          </a:xfrm>
          <a:custGeom>
            <a:avLst/>
            <a:gdLst/>
            <a:ahLst/>
            <a:cxnLst/>
            <a:rect r="r" b="b" t="t" l="l"/>
            <a:pathLst>
              <a:path h="6895794" w="5962276">
                <a:moveTo>
                  <a:pt x="0" y="0"/>
                </a:moveTo>
                <a:lnTo>
                  <a:pt x="5962276" y="0"/>
                </a:lnTo>
                <a:lnTo>
                  <a:pt x="5962276" y="6895794"/>
                </a:lnTo>
                <a:lnTo>
                  <a:pt x="0" y="6895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860" t="0" r="-3686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14496" y="3477434"/>
            <a:ext cx="6778164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143663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Kiểm thử website</a:t>
            </a:r>
          </a:p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43663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   Food Ordering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820449" y="-4658067"/>
            <a:ext cx="10287000" cy="19603134"/>
          </a:xfrm>
          <a:custGeom>
            <a:avLst/>
            <a:gdLst/>
            <a:ahLst/>
            <a:cxnLst/>
            <a:rect r="r" b="b" t="t" l="l"/>
            <a:pathLst>
              <a:path h="19603134" w="10287000">
                <a:moveTo>
                  <a:pt x="0" y="0"/>
                </a:moveTo>
                <a:lnTo>
                  <a:pt x="10287000" y="0"/>
                </a:lnTo>
                <a:lnTo>
                  <a:pt x="10287000" y="19603134"/>
                </a:lnTo>
                <a:lnTo>
                  <a:pt x="0" y="19603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" r="0" b="-480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100011"/>
            <a:ext cx="18288000" cy="6686550"/>
            <a:chOff x="0" y="0"/>
            <a:chExt cx="4816593" cy="17610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761067"/>
            </a:xfrm>
            <a:custGeom>
              <a:avLst/>
              <a:gdLst/>
              <a:ahLst/>
              <a:cxnLst/>
              <a:rect r="r" b="b" t="t" l="l"/>
              <a:pathLst>
                <a:path h="17610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6A90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799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29685" y="2314870"/>
            <a:ext cx="15388619" cy="7195665"/>
            <a:chOff x="0" y="0"/>
            <a:chExt cx="4052970" cy="18951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70" cy="1895154"/>
            </a:xfrm>
            <a:custGeom>
              <a:avLst/>
              <a:gdLst/>
              <a:ahLst/>
              <a:cxnLst/>
              <a:rect r="r" b="b" t="t" l="l"/>
              <a:pathLst>
                <a:path h="1895154" w="4052970">
                  <a:moveTo>
                    <a:pt x="23645" y="0"/>
                  </a:moveTo>
                  <a:lnTo>
                    <a:pt x="4029324" y="0"/>
                  </a:lnTo>
                  <a:cubicBezTo>
                    <a:pt x="4042383" y="0"/>
                    <a:pt x="4052970" y="10586"/>
                    <a:pt x="4052970" y="23645"/>
                  </a:cubicBezTo>
                  <a:lnTo>
                    <a:pt x="4052970" y="1871509"/>
                  </a:lnTo>
                  <a:cubicBezTo>
                    <a:pt x="4052970" y="1884568"/>
                    <a:pt x="4042383" y="1895154"/>
                    <a:pt x="4029324" y="1895154"/>
                  </a:cubicBezTo>
                  <a:lnTo>
                    <a:pt x="23645" y="1895154"/>
                  </a:lnTo>
                  <a:cubicBezTo>
                    <a:pt x="10586" y="1895154"/>
                    <a:pt x="0" y="1884568"/>
                    <a:pt x="0" y="1871509"/>
                  </a:cubicBezTo>
                  <a:lnTo>
                    <a:pt x="0" y="23645"/>
                  </a:lnTo>
                  <a:cubicBezTo>
                    <a:pt x="0" y="10586"/>
                    <a:pt x="10586" y="0"/>
                    <a:pt x="23645" y="0"/>
                  </a:cubicBezTo>
                  <a:close/>
                </a:path>
              </a:pathLst>
            </a:custGeom>
            <a:solidFill>
              <a:srgbClr val="F7F9F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70" cy="1933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84428" y="3934528"/>
            <a:ext cx="1109844" cy="110984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90B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Noto Serif Display"/>
                  <a:ea typeface="Noto Serif Display"/>
                  <a:cs typeface="Noto Serif Display"/>
                  <a:sym typeface="Noto Serif Display"/>
                </a:rPr>
                <a:t>01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51103" y="923925"/>
            <a:ext cx="11514634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0000"/>
                </a:solidFill>
                <a:latin typeface="Sigmar One"/>
                <a:ea typeface="Sigmar One"/>
                <a:cs typeface="Sigmar One"/>
                <a:sym typeface="Sigmar One"/>
              </a:rPr>
              <a:t>MỤC LỤC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540467" y="3835400"/>
            <a:ext cx="1109844" cy="11098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90B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Noto Serif Display"/>
                  <a:ea typeface="Noto Serif Display"/>
                  <a:cs typeface="Noto Serif Display"/>
                  <a:sym typeface="Noto Serif Display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89716" y="6888364"/>
            <a:ext cx="1109844" cy="11098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90B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Noto Serif Display"/>
                  <a:ea typeface="Noto Serif Display"/>
                  <a:cs typeface="Noto Serif Display"/>
                  <a:sym typeface="Noto Serif Display"/>
                </a:rPr>
                <a:t>04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03453" y="6789236"/>
            <a:ext cx="1109844" cy="11098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90B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Noto Serif Display"/>
                  <a:ea typeface="Noto Serif Display"/>
                  <a:cs typeface="Noto Serif Display"/>
                  <a:sym typeface="Noto Serif Display"/>
                </a:rPr>
                <a:t>03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260947" y="3998702"/>
            <a:ext cx="5381857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Phân tích nghiệp vụ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60947" y="6821689"/>
            <a:ext cx="5577723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Thiết kế kiến trúc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hệ thống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70962" y="3768725"/>
            <a:ext cx="5389550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Phân tích và thiết kế hệ thống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47211" y="6722561"/>
            <a:ext cx="3740489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Kế hoạch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kiểm thử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74238">
            <a:off x="-540910" y="1052118"/>
            <a:ext cx="15298218" cy="152982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46966" y="2748302"/>
            <a:ext cx="12299901" cy="5153970"/>
            <a:chOff x="0" y="0"/>
            <a:chExt cx="3239480" cy="1357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9480" cy="1357424"/>
            </a:xfrm>
            <a:custGeom>
              <a:avLst/>
              <a:gdLst/>
              <a:ahLst/>
              <a:cxnLst/>
              <a:rect r="r" b="b" t="t" l="l"/>
              <a:pathLst>
                <a:path h="1357424" w="3239480">
                  <a:moveTo>
                    <a:pt x="15736" y="0"/>
                  </a:moveTo>
                  <a:lnTo>
                    <a:pt x="3223745" y="0"/>
                  </a:lnTo>
                  <a:cubicBezTo>
                    <a:pt x="3227918" y="0"/>
                    <a:pt x="3231920" y="1658"/>
                    <a:pt x="3234871" y="4609"/>
                  </a:cubicBezTo>
                  <a:cubicBezTo>
                    <a:pt x="3237822" y="7560"/>
                    <a:pt x="3239480" y="11562"/>
                    <a:pt x="3239480" y="15736"/>
                  </a:cubicBezTo>
                  <a:lnTo>
                    <a:pt x="3239480" y="1341688"/>
                  </a:lnTo>
                  <a:cubicBezTo>
                    <a:pt x="3239480" y="1350379"/>
                    <a:pt x="3232435" y="1357424"/>
                    <a:pt x="3223745" y="1357424"/>
                  </a:cubicBezTo>
                  <a:lnTo>
                    <a:pt x="15736" y="1357424"/>
                  </a:lnTo>
                  <a:cubicBezTo>
                    <a:pt x="7045" y="1357424"/>
                    <a:pt x="0" y="1350379"/>
                    <a:pt x="0" y="1341688"/>
                  </a:cubicBezTo>
                  <a:lnTo>
                    <a:pt x="0" y="15736"/>
                  </a:lnTo>
                  <a:cubicBezTo>
                    <a:pt x="0" y="7045"/>
                    <a:pt x="7045" y="0"/>
                    <a:pt x="15736" y="0"/>
                  </a:cubicBezTo>
                  <a:close/>
                </a:path>
              </a:pathLst>
            </a:custGeom>
            <a:solidFill>
              <a:srgbClr val="F7F9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39480" cy="1395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46966" y="3625816"/>
            <a:ext cx="1229990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46966" y="5210987"/>
            <a:ext cx="1229990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Phân tích nghiệp vụ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45775" y="-2379359"/>
            <a:ext cx="17050768" cy="16344027"/>
            <a:chOff x="0" y="0"/>
            <a:chExt cx="84794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7947" cy="812800"/>
            </a:xfrm>
            <a:custGeom>
              <a:avLst/>
              <a:gdLst/>
              <a:ahLst/>
              <a:cxnLst/>
              <a:rect r="r" b="b" t="t" l="l"/>
              <a:pathLst>
                <a:path h="812800" w="847947">
                  <a:moveTo>
                    <a:pt x="423973" y="0"/>
                  </a:moveTo>
                  <a:cubicBezTo>
                    <a:pt x="189819" y="0"/>
                    <a:pt x="0" y="181951"/>
                    <a:pt x="0" y="406400"/>
                  </a:cubicBezTo>
                  <a:cubicBezTo>
                    <a:pt x="0" y="630849"/>
                    <a:pt x="189819" y="812800"/>
                    <a:pt x="423973" y="812800"/>
                  </a:cubicBezTo>
                  <a:cubicBezTo>
                    <a:pt x="658127" y="812800"/>
                    <a:pt x="847947" y="630849"/>
                    <a:pt x="847947" y="406400"/>
                  </a:cubicBezTo>
                  <a:cubicBezTo>
                    <a:pt x="847947" y="181951"/>
                    <a:pt x="658127" y="0"/>
                    <a:pt x="4239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9495" y="38100"/>
              <a:ext cx="688957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9525" y="16498"/>
            <a:ext cx="4688704" cy="2707025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05202" y="6404300"/>
            <a:ext cx="1404543" cy="209405"/>
          </a:xfrm>
          <a:custGeom>
            <a:avLst/>
            <a:gdLst/>
            <a:ahLst/>
            <a:cxnLst/>
            <a:rect r="r" b="b" t="t" l="l"/>
            <a:pathLst>
              <a:path h="209405" w="1404543">
                <a:moveTo>
                  <a:pt x="0" y="0"/>
                </a:moveTo>
                <a:lnTo>
                  <a:pt x="1404543" y="0"/>
                </a:lnTo>
                <a:lnTo>
                  <a:pt x="1404543" y="209404"/>
                </a:lnTo>
                <a:lnTo>
                  <a:pt x="0" y="209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2066" y="7773651"/>
            <a:ext cx="4385918" cy="2498607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316492" y="1898381"/>
            <a:ext cx="452754" cy="297171"/>
          </a:xfrm>
          <a:custGeom>
            <a:avLst/>
            <a:gdLst/>
            <a:ahLst/>
            <a:cxnLst/>
            <a:rect r="r" b="b" t="t" l="l"/>
            <a:pathLst>
              <a:path h="297171" w="452754">
                <a:moveTo>
                  <a:pt x="0" y="0"/>
                </a:moveTo>
                <a:lnTo>
                  <a:pt x="452754" y="0"/>
                </a:lnTo>
                <a:lnTo>
                  <a:pt x="452754" y="297171"/>
                </a:lnTo>
                <a:lnTo>
                  <a:pt x="0" y="29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5055" y="3384550"/>
            <a:ext cx="4072929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7F9FB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Webs</a:t>
            </a:r>
            <a:r>
              <a:rPr lang="en-US" b="true" sz="5000">
                <a:solidFill>
                  <a:srgbClr val="F7F9FB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ite Food Ordering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5055" y="5405304"/>
            <a:ext cx="3240584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7F9FB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Có 5 chức năng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00195" y="1734202"/>
            <a:ext cx="403879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1. Produ</a:t>
            </a: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ct Catalog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Tìm kiếm/Xem chi tiết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 sản phẩm.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Admin quản lý Menu.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31435" y="587375"/>
            <a:ext cx="6475997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2. Shopping</a:t>
            </a: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Cart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Chọn sản phẩm bằng nút “+”, hiển thị “Added” sau khi chọn 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Bảng tóm tắt: tổng tiền, số lượng.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Được tăng/giảm số lượng, xóa sản phẩm.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Thanh toán bằng nút “Buy Now”.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97442" y="4532938"/>
            <a:ext cx="5183684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3. Payment</a:t>
            </a: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Process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Sau khi Buy Now, hệ thống xác thực tài khoản và sản phẩm.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 Cần đăng nhập/đăng ký trước khi thanh toán.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Thông báo đơn hàng đang được vận chuyển.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71155" y="4942513"/>
            <a:ext cx="6677124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4. User Management</a:t>
            </a: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Phân quyền khách hàng và admin.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Khách hàng cập nhật thông tin cá nhân.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Lịch sử mua hàng tại MyOrder.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71155" y="7695238"/>
            <a:ext cx="6916845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5. Disp</a:t>
            </a:r>
            <a:r>
              <a:rPr lang="en-US" sz="30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atch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Admin: quản lý &amp; xác nhận đơn hàng.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Sau xác nhận: gửi thông báo và cập nhật vào MyOrder của khách.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698229" y="4721542"/>
            <a:ext cx="452754" cy="297171"/>
          </a:xfrm>
          <a:custGeom>
            <a:avLst/>
            <a:gdLst/>
            <a:ahLst/>
            <a:cxnLst/>
            <a:rect r="r" b="b" t="t" l="l"/>
            <a:pathLst>
              <a:path h="297171" w="452754">
                <a:moveTo>
                  <a:pt x="0" y="0"/>
                </a:moveTo>
                <a:lnTo>
                  <a:pt x="452754" y="0"/>
                </a:lnTo>
                <a:lnTo>
                  <a:pt x="452754" y="297171"/>
                </a:lnTo>
                <a:lnTo>
                  <a:pt x="0" y="29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481126" y="731529"/>
            <a:ext cx="452754" cy="297171"/>
          </a:xfrm>
          <a:custGeom>
            <a:avLst/>
            <a:gdLst/>
            <a:ahLst/>
            <a:cxnLst/>
            <a:rect r="r" b="b" t="t" l="l"/>
            <a:pathLst>
              <a:path h="297171" w="452754">
                <a:moveTo>
                  <a:pt x="0" y="0"/>
                </a:moveTo>
                <a:lnTo>
                  <a:pt x="452754" y="0"/>
                </a:lnTo>
                <a:lnTo>
                  <a:pt x="452754" y="297171"/>
                </a:lnTo>
                <a:lnTo>
                  <a:pt x="0" y="29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78681" y="5143500"/>
            <a:ext cx="452754" cy="297171"/>
          </a:xfrm>
          <a:custGeom>
            <a:avLst/>
            <a:gdLst/>
            <a:ahLst/>
            <a:cxnLst/>
            <a:rect r="r" b="b" t="t" l="l"/>
            <a:pathLst>
              <a:path h="297171" w="452754">
                <a:moveTo>
                  <a:pt x="0" y="0"/>
                </a:moveTo>
                <a:lnTo>
                  <a:pt x="452754" y="0"/>
                </a:lnTo>
                <a:lnTo>
                  <a:pt x="452754" y="297171"/>
                </a:lnTo>
                <a:lnTo>
                  <a:pt x="0" y="29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707503" y="7868901"/>
            <a:ext cx="452754" cy="297171"/>
          </a:xfrm>
          <a:custGeom>
            <a:avLst/>
            <a:gdLst/>
            <a:ahLst/>
            <a:cxnLst/>
            <a:rect r="r" b="b" t="t" l="l"/>
            <a:pathLst>
              <a:path h="297171" w="452754">
                <a:moveTo>
                  <a:pt x="0" y="0"/>
                </a:moveTo>
                <a:lnTo>
                  <a:pt x="452754" y="0"/>
                </a:lnTo>
                <a:lnTo>
                  <a:pt x="452754" y="297171"/>
                </a:lnTo>
                <a:lnTo>
                  <a:pt x="0" y="29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25" y="2723523"/>
            <a:ext cx="18278475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854690" y="7157591"/>
            <a:ext cx="2578619" cy="384449"/>
          </a:xfrm>
          <a:custGeom>
            <a:avLst/>
            <a:gdLst/>
            <a:ahLst/>
            <a:cxnLst/>
            <a:rect r="r" b="b" t="t" l="l"/>
            <a:pathLst>
              <a:path h="384449" w="2578619">
                <a:moveTo>
                  <a:pt x="0" y="0"/>
                </a:moveTo>
                <a:lnTo>
                  <a:pt x="2578620" y="0"/>
                </a:lnTo>
                <a:lnTo>
                  <a:pt x="2578620" y="384449"/>
                </a:lnTo>
                <a:lnTo>
                  <a:pt x="0" y="384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9525" y="7889004"/>
            <a:ext cx="18278475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149696" y="3663504"/>
            <a:ext cx="10826226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7F9FB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Sơ đồ quy trình nghiệp vụ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46677" y="5414516"/>
            <a:ext cx="319464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7F9FB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Có 5 sơ đồ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4750" y="0"/>
            <a:ext cx="9254208" cy="8986455"/>
          </a:xfrm>
          <a:custGeom>
            <a:avLst/>
            <a:gdLst/>
            <a:ahLst/>
            <a:cxnLst/>
            <a:rect r="r" b="b" t="t" l="l"/>
            <a:pathLst>
              <a:path h="8986455" w="9254208">
                <a:moveTo>
                  <a:pt x="0" y="0"/>
                </a:moveTo>
                <a:lnTo>
                  <a:pt x="9254208" y="0"/>
                </a:lnTo>
                <a:lnTo>
                  <a:pt x="9254208" y="8986455"/>
                </a:lnTo>
                <a:lnTo>
                  <a:pt x="0" y="898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2390" y="2079804"/>
            <a:ext cx="7663669" cy="6485380"/>
          </a:xfrm>
          <a:custGeom>
            <a:avLst/>
            <a:gdLst/>
            <a:ahLst/>
            <a:cxnLst/>
            <a:rect r="r" b="b" t="t" l="l"/>
            <a:pathLst>
              <a:path h="6485380" w="7663669">
                <a:moveTo>
                  <a:pt x="0" y="0"/>
                </a:moveTo>
                <a:lnTo>
                  <a:pt x="7663669" y="0"/>
                </a:lnTo>
                <a:lnTo>
                  <a:pt x="7663669" y="6485380"/>
                </a:lnTo>
                <a:lnTo>
                  <a:pt x="0" y="6485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13990" y="2079804"/>
            <a:ext cx="9844979" cy="6485380"/>
          </a:xfrm>
          <a:custGeom>
            <a:avLst/>
            <a:gdLst/>
            <a:ahLst/>
            <a:cxnLst/>
            <a:rect r="r" b="b" t="t" l="l"/>
            <a:pathLst>
              <a:path h="6485380" w="9844979">
                <a:moveTo>
                  <a:pt x="0" y="0"/>
                </a:moveTo>
                <a:lnTo>
                  <a:pt x="9844979" y="0"/>
                </a:lnTo>
                <a:lnTo>
                  <a:pt x="9844979" y="6485380"/>
                </a:lnTo>
                <a:lnTo>
                  <a:pt x="0" y="6485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463" y="365125"/>
            <a:ext cx="718782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Yêu cầu chức năng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3188" y="340884"/>
            <a:ext cx="9013338" cy="6996019"/>
          </a:xfrm>
          <a:custGeom>
            <a:avLst/>
            <a:gdLst/>
            <a:ahLst/>
            <a:cxnLst/>
            <a:rect r="r" b="b" t="t" l="l"/>
            <a:pathLst>
              <a:path h="6996019" w="9013338">
                <a:moveTo>
                  <a:pt x="0" y="0"/>
                </a:moveTo>
                <a:lnTo>
                  <a:pt x="9013338" y="0"/>
                </a:lnTo>
                <a:lnTo>
                  <a:pt x="9013338" y="6996019"/>
                </a:lnTo>
                <a:lnTo>
                  <a:pt x="0" y="6996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4" r="0" b="-31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93188" y="7336903"/>
            <a:ext cx="9013338" cy="2410720"/>
          </a:xfrm>
          <a:custGeom>
            <a:avLst/>
            <a:gdLst/>
            <a:ahLst/>
            <a:cxnLst/>
            <a:rect r="r" b="b" t="t" l="l"/>
            <a:pathLst>
              <a:path h="2410720" w="9013338">
                <a:moveTo>
                  <a:pt x="0" y="0"/>
                </a:moveTo>
                <a:lnTo>
                  <a:pt x="9013338" y="0"/>
                </a:lnTo>
                <a:lnTo>
                  <a:pt x="9013338" y="2410720"/>
                </a:lnTo>
                <a:lnTo>
                  <a:pt x="0" y="2410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76" r="0" b="-187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870" y="2450168"/>
            <a:ext cx="7477933" cy="6808132"/>
          </a:xfrm>
          <a:custGeom>
            <a:avLst/>
            <a:gdLst/>
            <a:ahLst/>
            <a:cxnLst/>
            <a:rect r="r" b="b" t="t" l="l"/>
            <a:pathLst>
              <a:path h="6808132" w="7477933">
                <a:moveTo>
                  <a:pt x="0" y="0"/>
                </a:moveTo>
                <a:lnTo>
                  <a:pt x="7477934" y="0"/>
                </a:lnTo>
                <a:lnTo>
                  <a:pt x="7477934" y="6808132"/>
                </a:lnTo>
                <a:lnTo>
                  <a:pt x="0" y="6808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203" t="-10130" r="-30743" b="-297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28583" y="2089150"/>
            <a:ext cx="9400812" cy="7819292"/>
          </a:xfrm>
          <a:custGeom>
            <a:avLst/>
            <a:gdLst/>
            <a:ahLst/>
            <a:cxnLst/>
            <a:rect r="r" b="b" t="t" l="l"/>
            <a:pathLst>
              <a:path h="7819292" w="9400812">
                <a:moveTo>
                  <a:pt x="0" y="0"/>
                </a:moveTo>
                <a:lnTo>
                  <a:pt x="9400812" y="0"/>
                </a:lnTo>
                <a:lnTo>
                  <a:pt x="9400812" y="7819292"/>
                </a:lnTo>
                <a:lnTo>
                  <a:pt x="0" y="7819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300" t="-8697" r="-26123" b="-1014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700754"/>
            <a:ext cx="718782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 u="sng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Tác nhân tham 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28583" y="700754"/>
            <a:ext cx="975941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Sơ đồ ngữ cảnh hệ  thống</a:t>
            </a:r>
          </a:p>
        </p:txBody>
      </p:sp>
      <p:sp>
        <p:nvSpPr>
          <p:cNvPr name="AutoShape 6" id="6"/>
          <p:cNvSpPr/>
          <p:nvPr/>
        </p:nvSpPr>
        <p:spPr>
          <a:xfrm>
            <a:off x="7738804" y="1028700"/>
            <a:ext cx="0" cy="83031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74238">
            <a:off x="-540910" y="1052118"/>
            <a:ext cx="15298218" cy="152982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01367" y="2748302"/>
            <a:ext cx="12299901" cy="5153970"/>
            <a:chOff x="0" y="0"/>
            <a:chExt cx="3239480" cy="1357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9480" cy="1357424"/>
            </a:xfrm>
            <a:custGeom>
              <a:avLst/>
              <a:gdLst/>
              <a:ahLst/>
              <a:cxnLst/>
              <a:rect r="r" b="b" t="t" l="l"/>
              <a:pathLst>
                <a:path h="1357424" w="3239480">
                  <a:moveTo>
                    <a:pt x="15736" y="0"/>
                  </a:moveTo>
                  <a:lnTo>
                    <a:pt x="3223745" y="0"/>
                  </a:lnTo>
                  <a:cubicBezTo>
                    <a:pt x="3227918" y="0"/>
                    <a:pt x="3231920" y="1658"/>
                    <a:pt x="3234871" y="4609"/>
                  </a:cubicBezTo>
                  <a:cubicBezTo>
                    <a:pt x="3237822" y="7560"/>
                    <a:pt x="3239480" y="11562"/>
                    <a:pt x="3239480" y="15736"/>
                  </a:cubicBezTo>
                  <a:lnTo>
                    <a:pt x="3239480" y="1341688"/>
                  </a:lnTo>
                  <a:cubicBezTo>
                    <a:pt x="3239480" y="1350379"/>
                    <a:pt x="3232435" y="1357424"/>
                    <a:pt x="3223745" y="1357424"/>
                  </a:cubicBezTo>
                  <a:lnTo>
                    <a:pt x="15736" y="1357424"/>
                  </a:lnTo>
                  <a:cubicBezTo>
                    <a:pt x="7045" y="1357424"/>
                    <a:pt x="0" y="1350379"/>
                    <a:pt x="0" y="1341688"/>
                  </a:cubicBezTo>
                  <a:lnTo>
                    <a:pt x="0" y="15736"/>
                  </a:lnTo>
                  <a:cubicBezTo>
                    <a:pt x="0" y="7045"/>
                    <a:pt x="7045" y="0"/>
                    <a:pt x="15736" y="0"/>
                  </a:cubicBezTo>
                  <a:close/>
                </a:path>
              </a:pathLst>
            </a:custGeom>
            <a:solidFill>
              <a:srgbClr val="F7F9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39480" cy="1395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801367" y="3390236"/>
            <a:ext cx="1229990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1367" y="4845971"/>
            <a:ext cx="12299901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Phân tích và thiết kế 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hệ thống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6733" y="1314038"/>
            <a:ext cx="16496360" cy="8660589"/>
          </a:xfrm>
          <a:custGeom>
            <a:avLst/>
            <a:gdLst/>
            <a:ahLst/>
            <a:cxnLst/>
            <a:rect r="r" b="b" t="t" l="l"/>
            <a:pathLst>
              <a:path h="8660589" w="16496360">
                <a:moveTo>
                  <a:pt x="0" y="0"/>
                </a:moveTo>
                <a:lnTo>
                  <a:pt x="16496359" y="0"/>
                </a:lnTo>
                <a:lnTo>
                  <a:pt x="16496359" y="8660589"/>
                </a:lnTo>
                <a:lnTo>
                  <a:pt x="0" y="866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6733" y="-133350"/>
            <a:ext cx="718782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Use Case tổng quát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0" y="0"/>
          <a:ext cx="9672638" cy="8201025"/>
        </p:xfrm>
        <a:graphic>
          <a:graphicData uri="http://schemas.openxmlformats.org/presentationml/2006/ole">
            <p:oleObj imgW="11607800" imgH="10134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9890" y="2269347"/>
            <a:ext cx="12236789" cy="8152414"/>
          </a:xfrm>
          <a:custGeom>
            <a:avLst/>
            <a:gdLst/>
            <a:ahLst/>
            <a:cxnLst/>
            <a:rect r="r" b="b" t="t" l="l"/>
            <a:pathLst>
              <a:path h="8152414" w="12236789">
                <a:moveTo>
                  <a:pt x="0" y="0"/>
                </a:moveTo>
                <a:lnTo>
                  <a:pt x="12236789" y="0"/>
                </a:lnTo>
                <a:lnTo>
                  <a:pt x="12236789" y="8152413"/>
                </a:lnTo>
                <a:lnTo>
                  <a:pt x="0" y="8152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1756" y="722469"/>
            <a:ext cx="9144000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Quản lý giỏ hàng</a:t>
            </a:r>
          </a:p>
          <a:p>
            <a:pPr algn="l">
              <a:lnSpc>
                <a:spcPts val="9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83693" y="2216044"/>
            <a:ext cx="12582659" cy="7593274"/>
          </a:xfrm>
          <a:custGeom>
            <a:avLst/>
            <a:gdLst/>
            <a:ahLst/>
            <a:cxnLst/>
            <a:rect r="r" b="b" t="t" l="l"/>
            <a:pathLst>
              <a:path h="7593274" w="12582659">
                <a:moveTo>
                  <a:pt x="0" y="0"/>
                </a:moveTo>
                <a:lnTo>
                  <a:pt x="12582660" y="0"/>
                </a:lnTo>
                <a:lnTo>
                  <a:pt x="12582660" y="7593273"/>
                </a:lnTo>
                <a:lnTo>
                  <a:pt x="0" y="759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48100" y="570465"/>
            <a:ext cx="9144000" cy="367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Quản lý người dùng</a:t>
            </a:r>
          </a:p>
          <a:p>
            <a:pPr algn="l">
              <a:lnSpc>
                <a:spcPts val="9799"/>
              </a:lnSpc>
            </a:pPr>
          </a:p>
          <a:p>
            <a:pPr algn="l">
              <a:lnSpc>
                <a:spcPts val="9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3863" y="2904785"/>
            <a:ext cx="13716531" cy="6492610"/>
          </a:xfrm>
          <a:custGeom>
            <a:avLst/>
            <a:gdLst/>
            <a:ahLst/>
            <a:cxnLst/>
            <a:rect r="r" b="b" t="t" l="l"/>
            <a:pathLst>
              <a:path h="6492610" w="13716531">
                <a:moveTo>
                  <a:pt x="0" y="0"/>
                </a:moveTo>
                <a:lnTo>
                  <a:pt x="13716532" y="0"/>
                </a:lnTo>
                <a:lnTo>
                  <a:pt x="13716532" y="6492610"/>
                </a:lnTo>
                <a:lnTo>
                  <a:pt x="0" y="6492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1488" y="635462"/>
            <a:ext cx="9144000" cy="357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true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Quản lý thanh toán</a:t>
            </a:r>
          </a:p>
          <a:p>
            <a:pPr algn="l">
              <a:lnSpc>
                <a:spcPts val="9520"/>
              </a:lnSpc>
            </a:pPr>
          </a:p>
          <a:p>
            <a:pPr algn="l">
              <a:lnSpc>
                <a:spcPts val="9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8725" y="3137218"/>
            <a:ext cx="15160575" cy="6121082"/>
          </a:xfrm>
          <a:custGeom>
            <a:avLst/>
            <a:gdLst/>
            <a:ahLst/>
            <a:cxnLst/>
            <a:rect r="r" b="b" t="t" l="l"/>
            <a:pathLst>
              <a:path h="6121082" w="15160575">
                <a:moveTo>
                  <a:pt x="0" y="0"/>
                </a:moveTo>
                <a:lnTo>
                  <a:pt x="15160575" y="0"/>
                </a:lnTo>
                <a:lnTo>
                  <a:pt x="15160575" y="6121082"/>
                </a:lnTo>
                <a:lnTo>
                  <a:pt x="0" y="6121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08329" y="895350"/>
            <a:ext cx="738782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Quản lý vận chuyển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92803" y="2280743"/>
            <a:ext cx="10987323" cy="7286632"/>
          </a:xfrm>
          <a:custGeom>
            <a:avLst/>
            <a:gdLst/>
            <a:ahLst/>
            <a:cxnLst/>
            <a:rect r="r" b="b" t="t" l="l"/>
            <a:pathLst>
              <a:path h="7286632" w="10987323">
                <a:moveTo>
                  <a:pt x="0" y="0"/>
                </a:moveTo>
                <a:lnTo>
                  <a:pt x="10987323" y="0"/>
                </a:lnTo>
                <a:lnTo>
                  <a:pt x="10987323" y="7286632"/>
                </a:lnTo>
                <a:lnTo>
                  <a:pt x="0" y="7286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22467" y="634771"/>
            <a:ext cx="6762899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Quản lý sản phẩm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74238">
            <a:off x="-540910" y="1052118"/>
            <a:ext cx="15298218" cy="152982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01367" y="2566515"/>
            <a:ext cx="12299901" cy="5153970"/>
            <a:chOff x="0" y="0"/>
            <a:chExt cx="3239480" cy="1357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9480" cy="1357424"/>
            </a:xfrm>
            <a:custGeom>
              <a:avLst/>
              <a:gdLst/>
              <a:ahLst/>
              <a:cxnLst/>
              <a:rect r="r" b="b" t="t" l="l"/>
              <a:pathLst>
                <a:path h="1357424" w="3239480">
                  <a:moveTo>
                    <a:pt x="15736" y="0"/>
                  </a:moveTo>
                  <a:lnTo>
                    <a:pt x="3223745" y="0"/>
                  </a:lnTo>
                  <a:cubicBezTo>
                    <a:pt x="3227918" y="0"/>
                    <a:pt x="3231920" y="1658"/>
                    <a:pt x="3234871" y="4609"/>
                  </a:cubicBezTo>
                  <a:cubicBezTo>
                    <a:pt x="3237822" y="7560"/>
                    <a:pt x="3239480" y="11562"/>
                    <a:pt x="3239480" y="15736"/>
                  </a:cubicBezTo>
                  <a:lnTo>
                    <a:pt x="3239480" y="1341688"/>
                  </a:lnTo>
                  <a:cubicBezTo>
                    <a:pt x="3239480" y="1350379"/>
                    <a:pt x="3232435" y="1357424"/>
                    <a:pt x="3223745" y="1357424"/>
                  </a:cubicBezTo>
                  <a:lnTo>
                    <a:pt x="15736" y="1357424"/>
                  </a:lnTo>
                  <a:cubicBezTo>
                    <a:pt x="7045" y="1357424"/>
                    <a:pt x="0" y="1350379"/>
                    <a:pt x="0" y="1341688"/>
                  </a:cubicBezTo>
                  <a:lnTo>
                    <a:pt x="0" y="15736"/>
                  </a:lnTo>
                  <a:cubicBezTo>
                    <a:pt x="0" y="7045"/>
                    <a:pt x="7045" y="0"/>
                    <a:pt x="15736" y="0"/>
                  </a:cubicBezTo>
                  <a:close/>
                </a:path>
              </a:pathLst>
            </a:custGeom>
            <a:solidFill>
              <a:srgbClr val="F7F9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39480" cy="1395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36947" y="4831574"/>
            <a:ext cx="1229990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Stories 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2903" y="1128884"/>
            <a:ext cx="14922194" cy="704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Product Catalog (Danh mục sản phẩm)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 Là khách hàng, tôi muốn tìm kiếm sản phẩm theo tên để nhanh chóng tìm thấy món ăn mong muốn.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 Là khách hàng, tôi muốn xem sản phẩm theo danh mục để dễ dàng lựa chọn món ăn theo loại.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 Là khách hàng, tôi muốn xem chi tiết sản phẩm (tên, hình ảnh, giá thành, đánh giá) để quyết định mua hàng phù hợp.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 Là quản trị viên, tôi muốn xem, thêm mới, chỉnh sửa hoặc xóa sản phẩm trong danh mục để đảm bảo thông tin menu luôn được cập nhật chính xác.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2903" y="933450"/>
            <a:ext cx="14922194" cy="774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Sh</a:t>
            </a: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opping Cart (Giỏ hàng)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thêm sản phẩm vào giỏ hàng để lưu lại các món cần mua.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xem danh sách sản phẩm trong giỏ hàng, kèm theo tổng số lượng và tổng chi phí, để kiểm tra trước khi thanh toán.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thay đổi số lượng hoặc xóa món trong giỏ hàng để điều chỉnh đơn hàng của mình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nhấn nút “Buy Now” để tiến hành thanh toán sau khi chọn xong sản phẩm.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2903" y="933450"/>
            <a:ext cx="14922194" cy="774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Payme</a:t>
            </a: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nt Process (Quy trình thanh toán)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được yêu cầu đăng nhập trước khi thanh toán để hệ thống xác nhận tài khoản của tôi.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kiểm tra và xác nhận lại thông tin đơn hàng trước khi thanh toán để đảm bảo tính chính xác.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thanh toán bằng nhiều phương thức khác nhau (thẻ, chuyển khoản, ví điện tử) để linh hoạt trong việc mua hàng.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nhận được thông báo xác nhận đơn hàng sau khi thanh toán để biết rằng đơn đã được xử lý.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2903" y="933450"/>
            <a:ext cx="14922194" cy="774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Payme</a:t>
            </a: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nt Process (Quy trình thanh toán)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được yêu cầu đăng nhập trước khi thanh toán để hệ thống xác nhận tài khoản của tôi.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kiểm tra và xác nhận lại thông tin đơn hàng trước khi thanh toán để đảm bảo tính chính xác.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thanh toán bằng nhiều phương thức khác nhau (thẻ, chuyển khoản, ví điện tử) để linh hoạt trong việc mua hàng.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nhận được thông báo xác nhận đơn hàng sau khi thanh toán để biết rằng đơn đã được xử lý.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2903" y="1584896"/>
            <a:ext cx="14922194" cy="563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User Manageme</a:t>
            </a: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nt (Quản lý người dùng)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người dùng, tôi muốn đăng ký và đăng nhập vào hệ thống để truy cập tài khoản một cách an toàn.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cập nhật thông tin cá nhân như địa chỉ, số điện thoại, email, mật khẩu để hỗ trợ xử lý đơn hàng chính xác hơn.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xem lại lịch sử đơn hàng của mình trong mục “MyOrder” để theo dõi các đơn đã mua và trạng thái giao hàng.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2903" y="2279651"/>
            <a:ext cx="14922194" cy="563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Dispa</a:t>
            </a: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tch (Vận chuyển)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quản trị viên, tôi muốn xem và quản lý danh sách các đơn hàng để xác nhận và theo dõi quá trình giao hàng.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quản trị viên, tôi muốn cập nhật trạng thái vận chuyển (đã xác nhận, đang giao, đã giao, hủy) để đảm bảo tiến trình minh bạch.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-Là khách hàng, tôi muốn nhận thông báo khi đơn hàng được xác nhận và đang vận chuyển để biết tiến độ giao hàng ở trong MyOrder.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74238">
            <a:off x="-540910" y="1052118"/>
            <a:ext cx="15298218" cy="152982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01367" y="2566515"/>
            <a:ext cx="12299901" cy="5153970"/>
            <a:chOff x="0" y="0"/>
            <a:chExt cx="3239480" cy="1357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9480" cy="1357424"/>
            </a:xfrm>
            <a:custGeom>
              <a:avLst/>
              <a:gdLst/>
              <a:ahLst/>
              <a:cxnLst/>
              <a:rect r="r" b="b" t="t" l="l"/>
              <a:pathLst>
                <a:path h="1357424" w="3239480">
                  <a:moveTo>
                    <a:pt x="15736" y="0"/>
                  </a:moveTo>
                  <a:lnTo>
                    <a:pt x="3223745" y="0"/>
                  </a:lnTo>
                  <a:cubicBezTo>
                    <a:pt x="3227918" y="0"/>
                    <a:pt x="3231920" y="1658"/>
                    <a:pt x="3234871" y="4609"/>
                  </a:cubicBezTo>
                  <a:cubicBezTo>
                    <a:pt x="3237822" y="7560"/>
                    <a:pt x="3239480" y="11562"/>
                    <a:pt x="3239480" y="15736"/>
                  </a:cubicBezTo>
                  <a:lnTo>
                    <a:pt x="3239480" y="1341688"/>
                  </a:lnTo>
                  <a:cubicBezTo>
                    <a:pt x="3239480" y="1350379"/>
                    <a:pt x="3232435" y="1357424"/>
                    <a:pt x="3223745" y="1357424"/>
                  </a:cubicBezTo>
                  <a:lnTo>
                    <a:pt x="15736" y="1357424"/>
                  </a:lnTo>
                  <a:cubicBezTo>
                    <a:pt x="7045" y="1357424"/>
                    <a:pt x="0" y="1350379"/>
                    <a:pt x="0" y="1341688"/>
                  </a:cubicBezTo>
                  <a:lnTo>
                    <a:pt x="0" y="15736"/>
                  </a:lnTo>
                  <a:cubicBezTo>
                    <a:pt x="0" y="7045"/>
                    <a:pt x="7045" y="0"/>
                    <a:pt x="15736" y="0"/>
                  </a:cubicBezTo>
                  <a:close/>
                </a:path>
              </a:pathLst>
            </a:custGeom>
            <a:solidFill>
              <a:srgbClr val="F7F9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39480" cy="1395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36947" y="4831574"/>
            <a:ext cx="1229990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Conceptual Model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5562" y="0"/>
            <a:ext cx="9296876" cy="10287000"/>
          </a:xfrm>
          <a:custGeom>
            <a:avLst/>
            <a:gdLst/>
            <a:ahLst/>
            <a:cxnLst/>
            <a:rect r="r" b="b" t="t" l="l"/>
            <a:pathLst>
              <a:path h="10287000" w="9296876">
                <a:moveTo>
                  <a:pt x="0" y="0"/>
                </a:moveTo>
                <a:lnTo>
                  <a:pt x="9296876" y="0"/>
                </a:lnTo>
                <a:lnTo>
                  <a:pt x="929687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74238">
            <a:off x="-540910" y="1052118"/>
            <a:ext cx="15298218" cy="152982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01367" y="2566515"/>
            <a:ext cx="12299901" cy="5153970"/>
            <a:chOff x="0" y="0"/>
            <a:chExt cx="3239480" cy="1357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9480" cy="1357424"/>
            </a:xfrm>
            <a:custGeom>
              <a:avLst/>
              <a:gdLst/>
              <a:ahLst/>
              <a:cxnLst/>
              <a:rect r="r" b="b" t="t" l="l"/>
              <a:pathLst>
                <a:path h="1357424" w="3239480">
                  <a:moveTo>
                    <a:pt x="15736" y="0"/>
                  </a:moveTo>
                  <a:lnTo>
                    <a:pt x="3223745" y="0"/>
                  </a:lnTo>
                  <a:cubicBezTo>
                    <a:pt x="3227918" y="0"/>
                    <a:pt x="3231920" y="1658"/>
                    <a:pt x="3234871" y="4609"/>
                  </a:cubicBezTo>
                  <a:cubicBezTo>
                    <a:pt x="3237822" y="7560"/>
                    <a:pt x="3239480" y="11562"/>
                    <a:pt x="3239480" y="15736"/>
                  </a:cubicBezTo>
                  <a:lnTo>
                    <a:pt x="3239480" y="1341688"/>
                  </a:lnTo>
                  <a:cubicBezTo>
                    <a:pt x="3239480" y="1350379"/>
                    <a:pt x="3232435" y="1357424"/>
                    <a:pt x="3223745" y="1357424"/>
                  </a:cubicBezTo>
                  <a:lnTo>
                    <a:pt x="15736" y="1357424"/>
                  </a:lnTo>
                  <a:cubicBezTo>
                    <a:pt x="7045" y="1357424"/>
                    <a:pt x="0" y="1350379"/>
                    <a:pt x="0" y="1341688"/>
                  </a:cubicBezTo>
                  <a:lnTo>
                    <a:pt x="0" y="15736"/>
                  </a:lnTo>
                  <a:cubicBezTo>
                    <a:pt x="0" y="7045"/>
                    <a:pt x="7045" y="0"/>
                    <a:pt x="15736" y="0"/>
                  </a:cubicBezTo>
                  <a:close/>
                </a:path>
              </a:pathLst>
            </a:custGeom>
            <a:solidFill>
              <a:srgbClr val="F7F9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39480" cy="1395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36947" y="4831574"/>
            <a:ext cx="1229990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Sơ đồ khối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2184" y="2704130"/>
            <a:ext cx="17092353" cy="4892686"/>
          </a:xfrm>
          <a:custGeom>
            <a:avLst/>
            <a:gdLst/>
            <a:ahLst/>
            <a:cxnLst/>
            <a:rect r="r" b="b" t="t" l="l"/>
            <a:pathLst>
              <a:path h="4892686" w="17092353">
                <a:moveTo>
                  <a:pt x="0" y="0"/>
                </a:moveTo>
                <a:lnTo>
                  <a:pt x="17092353" y="0"/>
                </a:lnTo>
                <a:lnTo>
                  <a:pt x="17092353" y="4892686"/>
                </a:lnTo>
                <a:lnTo>
                  <a:pt x="0" y="4892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62183"/>
            <a:ext cx="16629505" cy="503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</a:t>
            </a: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.Frontend (Giao diện người dùng):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○Cung cấp môi trường tương tác trực quan cho người dùng (khách hàng và quản trị viên).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○Cho phép khách hàng xem danh mục sản phẩm, tìm kiếm món ăn, thêm sản phẩm vào giỏ hàng, thực hiện thanh toán và theo dõi đơn hàng.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○Cho phép quản trị viên đăng nhập vào trang quản trị để quản lý sản phẩm, đơn hàng và vận chuyển.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Gi</a:t>
            </a: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ao diện được thiết kế bằng HTML, CSS, JavaScript, Bootstrap và EJS Template Engine, bảo đảm tính thân thiện và phản hồi nhanh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0202"/>
            <a:ext cx="16629505" cy="952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2</a:t>
            </a: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.Backend (Xử lý nghiệp vụ):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○Được phát triển bằng Node.js kết hợp Express Framework, chịu trách nhiệm xử lý toàn bộ luồng nghiệp vụ.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○Chia thành các module chính tương ứng với các chức năng: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Product Module: quản lý danh mục sản phẩm (thêm, sửa, xóa, hiển thị).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Cart Module: quản lý giỏ hàng, tính tổng tiền và điều chỉnh số lượng sản phẩm.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Order Module: xác nhận đơn hàng, thanh toán và cập nhật trạng thái vận chuyển.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User Module: xác thực người dùng, quản lý thông tin tài khoản và phân quyền truy cập.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○Tầng này bao gồm 3 lớp cơ bản: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UI Layer: tiếp nhận yêu cầu từ Frontend.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Business Logic Layer: xử lý các nghiệp vụ cốt lõi (thanh toán, đặt hàng, xác thực).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Data Access Layer: truy cập dữ liệu từ cơ sở dữ liệu thông qua API hoặc ORM.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74238">
            <a:off x="-540910" y="1052118"/>
            <a:ext cx="15298218" cy="152982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01367" y="2566515"/>
            <a:ext cx="12299901" cy="5153970"/>
            <a:chOff x="0" y="0"/>
            <a:chExt cx="3239480" cy="1357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9480" cy="1357424"/>
            </a:xfrm>
            <a:custGeom>
              <a:avLst/>
              <a:gdLst/>
              <a:ahLst/>
              <a:cxnLst/>
              <a:rect r="r" b="b" t="t" l="l"/>
              <a:pathLst>
                <a:path h="1357424" w="3239480">
                  <a:moveTo>
                    <a:pt x="15736" y="0"/>
                  </a:moveTo>
                  <a:lnTo>
                    <a:pt x="3223745" y="0"/>
                  </a:lnTo>
                  <a:cubicBezTo>
                    <a:pt x="3227918" y="0"/>
                    <a:pt x="3231920" y="1658"/>
                    <a:pt x="3234871" y="4609"/>
                  </a:cubicBezTo>
                  <a:cubicBezTo>
                    <a:pt x="3237822" y="7560"/>
                    <a:pt x="3239480" y="11562"/>
                    <a:pt x="3239480" y="15736"/>
                  </a:cubicBezTo>
                  <a:lnTo>
                    <a:pt x="3239480" y="1341688"/>
                  </a:lnTo>
                  <a:cubicBezTo>
                    <a:pt x="3239480" y="1350379"/>
                    <a:pt x="3232435" y="1357424"/>
                    <a:pt x="3223745" y="1357424"/>
                  </a:cubicBezTo>
                  <a:lnTo>
                    <a:pt x="15736" y="1357424"/>
                  </a:lnTo>
                  <a:cubicBezTo>
                    <a:pt x="7045" y="1357424"/>
                    <a:pt x="0" y="1350379"/>
                    <a:pt x="0" y="1341688"/>
                  </a:cubicBezTo>
                  <a:lnTo>
                    <a:pt x="0" y="15736"/>
                  </a:lnTo>
                  <a:cubicBezTo>
                    <a:pt x="0" y="7045"/>
                    <a:pt x="7045" y="0"/>
                    <a:pt x="15736" y="0"/>
                  </a:cubicBezTo>
                  <a:close/>
                </a:path>
              </a:pathLst>
            </a:custGeom>
            <a:solidFill>
              <a:srgbClr val="F7F9F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39480" cy="1395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36947" y="4831574"/>
            <a:ext cx="1229990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Decomposition View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962549" cy="10287000"/>
          </a:xfrm>
          <a:custGeom>
            <a:avLst/>
            <a:gdLst/>
            <a:ahLst/>
            <a:cxnLst/>
            <a:rect r="r" b="b" t="t" l="l"/>
            <a:pathLst>
              <a:path h="10287000" w="8962549">
                <a:moveTo>
                  <a:pt x="0" y="0"/>
                </a:moveTo>
                <a:lnTo>
                  <a:pt x="8962549" y="0"/>
                </a:lnTo>
                <a:lnTo>
                  <a:pt x="89625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78471" y="643702"/>
            <a:ext cx="8715432" cy="71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Mục tiêu: Mô tả cách hệ thống Food Ordering Website tương tác với người dùng và các dịch vụ ngoài.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Thành phần chính: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Customer: Tìm kiếm, đặt hàng, thanh toán, nhận thông báo.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Admin: Quản lý sản phẩm, đơn hàng, người dùng.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Food Ordering Website: Trung tâm xử lý các thao tác và kết nối dịch vụ.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Payment Gateway: Xử lý thanh toán.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Notification Service: Gửi thông báo đơn hàng/vận chuyển.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Delivery Service: Quản lý giao hàng.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4400" y="789696"/>
            <a:ext cx="11163600" cy="8707608"/>
          </a:xfrm>
          <a:custGeom>
            <a:avLst/>
            <a:gdLst/>
            <a:ahLst/>
            <a:cxnLst/>
            <a:rect r="r" b="b" t="t" l="l"/>
            <a:pathLst>
              <a:path h="8707608" w="11163600">
                <a:moveTo>
                  <a:pt x="0" y="0"/>
                </a:moveTo>
                <a:lnTo>
                  <a:pt x="11163600" y="0"/>
                </a:lnTo>
                <a:lnTo>
                  <a:pt x="11163600" y="8707608"/>
                </a:lnTo>
                <a:lnTo>
                  <a:pt x="0" y="8707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4572" y="1654810"/>
            <a:ext cx="6216693" cy="692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- Mục tiêu: Làm rõ cấu trúc trong hệ thống Food Ordering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- Thành phần: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SPA (ReactJS GUI): Giao diện cho Buyer/Admin.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Food Ordering API (Backend): Xử lý logic nghiệp vụ, giao tiếp với DB và các dịch vụ ngoài.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Database (MySQL): Lưu dữ liệu sản phẩm, đơn hàng, người dùng.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Payment / Notification / Delivery Services: Dịch vụ bên ngoài hỗ trợ thanh toán, thông báo và giao hàng.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"/>
            <a:ext cx="10956568" cy="9258300"/>
          </a:xfrm>
          <a:custGeom>
            <a:avLst/>
            <a:gdLst/>
            <a:ahLst/>
            <a:cxnLst/>
            <a:rect r="r" b="b" t="t" l="l"/>
            <a:pathLst>
              <a:path h="9258300" w="10956568">
                <a:moveTo>
                  <a:pt x="0" y="0"/>
                </a:moveTo>
                <a:lnTo>
                  <a:pt x="10956568" y="0"/>
                </a:lnTo>
                <a:lnTo>
                  <a:pt x="109565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93613" y="1753145"/>
            <a:ext cx="6425657" cy="713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Mục tiêu: Mô tả các thành phần bên trong Food Ordering API và cách chúng tương tác.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Thành phần chính: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SPA (ReactJS): Giao diện người dùng, gọi API qua HTTP.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API (RESTful): Xử lý yêu cầu và điều phối giữa các module.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Modules: Product Catalog, Shopping Cart, Payment Process, User Management, Dispatch.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Database: Mỗi module có schema riêng.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Event Bus: Kênh trao đổi sự kiện giữa các module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82810" y="1691416"/>
            <a:ext cx="11805190" cy="7319218"/>
          </a:xfrm>
          <a:custGeom>
            <a:avLst/>
            <a:gdLst/>
            <a:ahLst/>
            <a:cxnLst/>
            <a:rect r="r" b="b" t="t" l="l"/>
            <a:pathLst>
              <a:path h="7319218" w="11805190">
                <a:moveTo>
                  <a:pt x="0" y="0"/>
                </a:moveTo>
                <a:lnTo>
                  <a:pt x="11805190" y="0"/>
                </a:lnTo>
                <a:lnTo>
                  <a:pt x="11805190" y="7319217"/>
                </a:lnTo>
                <a:lnTo>
                  <a:pt x="0" y="731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3273" y="1595103"/>
            <a:ext cx="6209538" cy="741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Mục tiêu: Mô tả cấu trúc chi tiết các module trong API.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● Thành phần: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API: Điều phối yêu cầu giữa các module.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Modules: Product Catalog, Shopping Cart, Payment Process, User Management, Dispatch.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Data: Mỗi module có dữ liệu riêng.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○ In-Memory Event Bus: Kết nối và đồng bộ sự kiện giữa các module.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 =&gt; Kiến trúc phân lớp, độc lập, dễ mở rộng và bảo trì.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"/>
            <a:ext cx="10120925" cy="10287000"/>
            <a:chOff x="0" y="0"/>
            <a:chExt cx="266559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55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5593">
                  <a:moveTo>
                    <a:pt x="0" y="0"/>
                  </a:moveTo>
                  <a:lnTo>
                    <a:pt x="2665593" y="0"/>
                  </a:lnTo>
                  <a:lnTo>
                    <a:pt x="26655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418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559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936267" y="2581275"/>
            <a:ext cx="10178058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0"/>
              </a:lnSpc>
              <a:spcBef>
                <a:spcPct val="0"/>
              </a:spcBef>
            </a:pPr>
            <a:r>
              <a:rPr lang="en-US" b="true" sz="15000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THANK</a:t>
            </a:r>
            <a:r>
              <a:rPr lang="en-US" b="true" sz="15000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YOU</a:t>
            </a:r>
          </a:p>
        </p:txBody>
      </p:sp>
      <p:sp>
        <p:nvSpPr>
          <p:cNvPr name="AutoShape 6" id="6"/>
          <p:cNvSpPr/>
          <p:nvPr/>
        </p:nvSpPr>
        <p:spPr>
          <a:xfrm>
            <a:off x="4055861" y="5172075"/>
            <a:ext cx="606506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304634" y="2260520"/>
            <a:ext cx="1662921" cy="1091481"/>
          </a:xfrm>
          <a:custGeom>
            <a:avLst/>
            <a:gdLst/>
            <a:ahLst/>
            <a:cxnLst/>
            <a:rect r="r" b="b" t="t" l="l"/>
            <a:pathLst>
              <a:path h="1091481" w="1662921">
                <a:moveTo>
                  <a:pt x="0" y="0"/>
                </a:moveTo>
                <a:lnTo>
                  <a:pt x="1662921" y="0"/>
                </a:lnTo>
                <a:lnTo>
                  <a:pt x="1662921" y="1091481"/>
                </a:lnTo>
                <a:lnTo>
                  <a:pt x="0" y="1091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2082846" y="2260520"/>
            <a:ext cx="1662921" cy="1091481"/>
          </a:xfrm>
          <a:custGeom>
            <a:avLst/>
            <a:gdLst/>
            <a:ahLst/>
            <a:cxnLst/>
            <a:rect r="r" b="b" t="t" l="l"/>
            <a:pathLst>
              <a:path h="1091481" w="1662921">
                <a:moveTo>
                  <a:pt x="0" y="0"/>
                </a:moveTo>
                <a:lnTo>
                  <a:pt x="1662921" y="0"/>
                </a:lnTo>
                <a:lnTo>
                  <a:pt x="1662921" y="1091481"/>
                </a:lnTo>
                <a:lnTo>
                  <a:pt x="0" y="1091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0120925" y="5172075"/>
            <a:ext cx="411385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DAG1MG2adKA</dc:identifier>
  <dcterms:modified xsi:type="dcterms:W3CDTF">2011-08-01T06:04:30Z</dcterms:modified>
  <cp:revision>1</cp:revision>
  <dc:title>Bản sao của Phân tích yêu cầu nghiệp vụ</dc:title>
</cp:coreProperties>
</file>